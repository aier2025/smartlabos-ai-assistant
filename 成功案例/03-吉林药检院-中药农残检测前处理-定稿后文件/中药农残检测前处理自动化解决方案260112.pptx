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810" r:id="rId6"/>
    <p:sldId id="753" r:id="rId7"/>
    <p:sldId id="747" r:id="rId8"/>
    <p:sldId id="775" r:id="rId9"/>
    <p:sldId id="811" r:id="rId10"/>
    <p:sldId id="773" r:id="rId11"/>
    <p:sldId id="790" r:id="rId12"/>
    <p:sldId id="812" r:id="rId13"/>
    <p:sldId id="813" r:id="rId14"/>
    <p:sldId id="814" r:id="rId15"/>
    <p:sldId id="815" r:id="rId16"/>
    <p:sldId id="816" r:id="rId17"/>
    <p:sldId id="806" r:id="rId18"/>
    <p:sldId id="805" r:id="rId19"/>
    <p:sldId id="768" r:id="rId20"/>
    <p:sldId id="270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1" userDrawn="1">
          <p15:clr>
            <a:srgbClr val="A4A3A4"/>
          </p15:clr>
        </p15:guide>
        <p15:guide id="2" pos="2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E88"/>
    <a:srgbClr val="DBE0E8"/>
    <a:srgbClr val="EAEDF6"/>
    <a:srgbClr val="EFE5AA"/>
    <a:srgbClr val="F0F0F0"/>
    <a:srgbClr val="BAE19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50"/>
    <p:restoredTop sz="93673"/>
  </p:normalViewPr>
  <p:slideViewPr>
    <p:cSldViewPr snapToGrid="0" showGuides="1">
      <p:cViewPr varScale="1">
        <p:scale>
          <a:sx n="101" d="100"/>
          <a:sy n="101" d="100"/>
        </p:scale>
        <p:origin x="208" y="776"/>
      </p:cViewPr>
      <p:guideLst>
        <p:guide orient="horz" pos="1831"/>
        <p:guide pos="28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200" d="100"/>
        <a:sy n="200" d="100"/>
      </p:scale>
      <p:origin x="0" y="-3612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35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9700D684-9A9F-4B64-97DA-D4BEFF07EFE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150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50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E5D9236C-C337-4105-B779-A59191212E3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325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325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7" name="组合 6"/>
          <p:cNvGrpSpPr/>
          <p:nvPr userDrawn="1"/>
        </p:nvGrpSpPr>
        <p:grpSpPr>
          <a:xfrm>
            <a:off x="7831138" y="6242050"/>
            <a:ext cx="4360862" cy="708025"/>
            <a:chOff x="8278515" y="6300618"/>
            <a:chExt cx="3687256" cy="707886"/>
          </a:xfrm>
        </p:grpSpPr>
        <p:pic>
          <p:nvPicPr>
            <p:cNvPr id="3078" name="图片 7"/>
            <p:cNvPicPr>
              <a:picLocks noChangeAspect="1"/>
            </p:cNvPicPr>
            <p:nvPr/>
          </p:nvPicPr>
          <p:blipFill>
            <a:blip r:embed="rId2"/>
            <a:srcRect l="1196" t="4465" r="69160" b="3108"/>
            <a:stretch>
              <a:fillRect/>
            </a:stretch>
          </p:blipFill>
          <p:spPr>
            <a:xfrm>
              <a:off x="8278515" y="6300618"/>
              <a:ext cx="439711" cy="4001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文本框 8"/>
            <p:cNvSpPr txBox="1"/>
            <p:nvPr/>
          </p:nvSpPr>
          <p:spPr>
            <a:xfrm>
              <a:off x="8718226" y="6300618"/>
              <a:ext cx="324754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20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94A5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百泉聚兴（北京）科技有限公司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D5A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08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175"/>
            <a:ext cx="12192000" cy="399573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</p:pic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0" y="3932238"/>
            <a:ext cx="7142163" cy="82550"/>
          </a:xfrm>
          <a:prstGeom prst="rect">
            <a:avLst/>
          </a:prstGeom>
          <a:solidFill>
            <a:srgbClr val="294A5A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7131050" y="3932238"/>
            <a:ext cx="1265238" cy="82550"/>
          </a:xfrm>
          <a:prstGeom prst="rect">
            <a:avLst/>
          </a:prstGeom>
          <a:solidFill>
            <a:srgbClr val="484849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auto">
          <a:xfrm>
            <a:off x="8396288" y="3932238"/>
            <a:ext cx="1265238" cy="82550"/>
          </a:xfrm>
          <a:prstGeom prst="rect">
            <a:avLst/>
          </a:prstGeom>
          <a:solidFill>
            <a:srgbClr val="99CC39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9661525" y="3932238"/>
            <a:ext cx="1265238" cy="82550"/>
          </a:xfrm>
          <a:prstGeom prst="rect">
            <a:avLst/>
          </a:prstGeom>
          <a:solidFill>
            <a:srgbClr val="F9C900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ChangeArrowheads="1"/>
          </p:cNvSpPr>
          <p:nvPr userDrawn="1"/>
        </p:nvSpPr>
        <p:spPr bwMode="auto">
          <a:xfrm>
            <a:off x="10926763" y="3932238"/>
            <a:ext cx="1265238" cy="82550"/>
          </a:xfrm>
          <a:prstGeom prst="rect">
            <a:avLst/>
          </a:prstGeom>
          <a:solidFill>
            <a:srgbClr val="ED5A00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01" name="直接连接符 11"/>
          <p:cNvCxnSpPr/>
          <p:nvPr userDrawn="1"/>
        </p:nvCxnSpPr>
        <p:spPr>
          <a:xfrm>
            <a:off x="0" y="1036638"/>
            <a:ext cx="12192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直接连接符 12"/>
          <p:cNvCxnSpPr/>
          <p:nvPr userDrawn="1"/>
        </p:nvCxnSpPr>
        <p:spPr bwMode="auto">
          <a:xfrm>
            <a:off x="0" y="1117600"/>
            <a:ext cx="121920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1.png"/><Relationship Id="rId7" Type="http://schemas.openxmlformats.org/officeDocument/2006/relationships/image" Target="../media/image4.jpeg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6" name="直接连接符 20"/>
          <p:cNvCxnSpPr/>
          <p:nvPr userDrawn="1"/>
        </p:nvCxnSpPr>
        <p:spPr>
          <a:xfrm>
            <a:off x="0" y="1036638"/>
            <a:ext cx="12192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直接连接符 21"/>
          <p:cNvCxnSpPr/>
          <p:nvPr userDrawn="1"/>
        </p:nvCxnSpPr>
        <p:spPr bwMode="auto">
          <a:xfrm>
            <a:off x="0" y="1117600"/>
            <a:ext cx="121920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图片 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102850" y="239713"/>
            <a:ext cx="1868488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7"/>
          <a:srcRect t="13953" b="21162"/>
          <a:stretch>
            <a:fillRect/>
          </a:stretch>
        </p:blipFill>
        <p:spPr>
          <a:xfrm>
            <a:off x="0" y="1989138"/>
            <a:ext cx="12192000" cy="259238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组合 7"/>
          <p:cNvGrpSpPr/>
          <p:nvPr userDrawn="1"/>
        </p:nvGrpSpPr>
        <p:grpSpPr>
          <a:xfrm>
            <a:off x="7831138" y="6242050"/>
            <a:ext cx="4360862" cy="708025"/>
            <a:chOff x="8278515" y="6300618"/>
            <a:chExt cx="3687256" cy="707886"/>
          </a:xfrm>
        </p:grpSpPr>
        <p:pic>
          <p:nvPicPr>
            <p:cNvPr id="2052" name="图片 8"/>
            <p:cNvPicPr>
              <a:picLocks noChangeAspect="1"/>
            </p:cNvPicPr>
            <p:nvPr/>
          </p:nvPicPr>
          <p:blipFill>
            <a:blip r:embed="rId8"/>
            <a:srcRect l="1196" t="4465" r="69160" b="3108"/>
            <a:stretch>
              <a:fillRect/>
            </a:stretch>
          </p:blipFill>
          <p:spPr>
            <a:xfrm>
              <a:off x="8278515" y="6300618"/>
              <a:ext cx="439711" cy="4001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8718226" y="6300618"/>
              <a:ext cx="324754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20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94A5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百泉聚兴（北京）科技有限公司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D5A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8" Type="http://schemas.openxmlformats.org/officeDocument/2006/relationships/notesSlide" Target="../notesSlides/notesSlide4.xml"/><Relationship Id="rId37" Type="http://schemas.openxmlformats.org/officeDocument/2006/relationships/slideLayout" Target="../slideLayouts/slideLayout2.xml"/><Relationship Id="rId36" Type="http://schemas.openxmlformats.org/officeDocument/2006/relationships/image" Target="../media/image17.svg"/><Relationship Id="rId35" Type="http://schemas.openxmlformats.org/officeDocument/2006/relationships/image" Target="../media/image16.png"/><Relationship Id="rId34" Type="http://schemas.openxmlformats.org/officeDocument/2006/relationships/image" Target="../media/image15.svg"/><Relationship Id="rId33" Type="http://schemas.openxmlformats.org/officeDocument/2006/relationships/image" Target="../media/image14.png"/><Relationship Id="rId32" Type="http://schemas.openxmlformats.org/officeDocument/2006/relationships/image" Target="../media/image13.svg"/><Relationship Id="rId31" Type="http://schemas.openxmlformats.org/officeDocument/2006/relationships/image" Target="../media/image12.png"/><Relationship Id="rId30" Type="http://schemas.openxmlformats.org/officeDocument/2006/relationships/image" Target="../media/image11.svg"/><Relationship Id="rId3" Type="http://schemas.openxmlformats.org/officeDocument/2006/relationships/tags" Target="../tags/tag12.xml"/><Relationship Id="rId29" Type="http://schemas.openxmlformats.org/officeDocument/2006/relationships/image" Target="../media/image10.png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image" Target="../media/image9.svg"/><Relationship Id="rId22" Type="http://schemas.openxmlformats.org/officeDocument/2006/relationships/image" Target="../media/image8.png"/><Relationship Id="rId21" Type="http://schemas.openxmlformats.org/officeDocument/2006/relationships/image" Target="../media/image7.svg"/><Relationship Id="rId20" Type="http://schemas.openxmlformats.org/officeDocument/2006/relationships/image" Target="../media/image6.png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1"/>
          <p:cNvSpPr txBox="1"/>
          <p:nvPr/>
        </p:nvSpPr>
        <p:spPr>
          <a:xfrm>
            <a:off x="990600" y="1679575"/>
            <a:ext cx="10706100" cy="221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百泉聚兴</a:t>
            </a:r>
            <a:r>
              <a:rPr lang="en-US" altLang="zh-CN" sz="48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en-US" altLang="zh-CN" sz="48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中药农残检测</a:t>
            </a: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前处理自动化</a:t>
            </a: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方案</a:t>
            </a:r>
            <a:endParaRPr lang="zh-CN" sz="44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22530" name="文本框 3"/>
          <p:cNvSpPr txBox="1"/>
          <p:nvPr/>
        </p:nvSpPr>
        <p:spPr>
          <a:xfrm>
            <a:off x="990600" y="4130675"/>
            <a:ext cx="6105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From Technology To Engineering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/>
          <p:cNvSpPr txBox="1"/>
          <p:nvPr/>
        </p:nvSpPr>
        <p:spPr>
          <a:xfrm>
            <a:off x="455613" y="3095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Songti SC Bold" panose="02010800040101010101" charset="-122"/>
                <a:ea typeface="Songti SC Bold" panose="02010800040101010101" charset="-122"/>
                <a:sym typeface="+mn-lt"/>
              </a:rPr>
              <a:t>方案内容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Songti SC Bold" panose="02010800040101010101" charset="-122"/>
              <a:ea typeface="Songti SC Bold" panose="02010800040101010101" charset="-122"/>
              <a:sym typeface="+mn-lt"/>
            </a:endParaRPr>
          </a:p>
        </p:txBody>
      </p:sp>
      <p:sp>
        <p:nvSpPr>
          <p:cNvPr id="5" name="对象11"/>
          <p:cNvSpPr/>
          <p:nvPr>
            <p:custDataLst>
              <p:tags r:id="rId1"/>
            </p:custDataLst>
          </p:nvPr>
        </p:nvSpPr>
        <p:spPr>
          <a:xfrm>
            <a:off x="1563688" y="166655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01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9" name="对象12"/>
          <p:cNvSpPr/>
          <p:nvPr>
            <p:custDataLst>
              <p:tags r:id="rId2"/>
            </p:custDataLst>
          </p:nvPr>
        </p:nvSpPr>
        <p:spPr>
          <a:xfrm>
            <a:off x="1563688" y="358552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03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21" name="对象13"/>
          <p:cNvSpPr/>
          <p:nvPr>
            <p:custDataLst>
              <p:tags r:id="rId3"/>
            </p:custDataLst>
          </p:nvPr>
        </p:nvSpPr>
        <p:spPr>
          <a:xfrm>
            <a:off x="1563688" y="264509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02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10" name="对象14"/>
          <p:cNvSpPr/>
          <p:nvPr>
            <p:custDataLst>
              <p:tags r:id="rId4"/>
            </p:custDataLst>
          </p:nvPr>
        </p:nvSpPr>
        <p:spPr>
          <a:xfrm flipH="1">
            <a:off x="1563688" y="452596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04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12" name="对象16"/>
          <p:cNvSpPr/>
          <p:nvPr>
            <p:custDataLst>
              <p:tags r:id="rId5"/>
            </p:custDataLst>
          </p:nvPr>
        </p:nvSpPr>
        <p:spPr>
          <a:xfrm flipH="1">
            <a:off x="1564005" y="542861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05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63520" y="1829435"/>
            <a:ext cx="4498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自动化需求和范围</a:t>
            </a:r>
            <a:r>
              <a:rPr lang="en-US" altLang="zh-CN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 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763520" y="36874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  <a:sym typeface="+mn-ea"/>
              </a:rPr>
              <a:t>中药农残检测自动化方案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2763520" y="46240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场地</a:t>
            </a:r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需求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2763520" y="5503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</a:rPr>
              <a:t>建设周期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2763520" y="2916555"/>
            <a:ext cx="4498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  <a:sym typeface="+mn-ea"/>
              </a:rPr>
              <a:t>检测自动化建设思路</a:t>
            </a:r>
            <a:r>
              <a:rPr lang="en-US" altLang="zh-CN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 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需求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4460" y="1659890"/>
            <a:ext cx="1190561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buNone/>
            </a:pPr>
            <a:r>
              <a:rPr lang="zh-CN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实现《中华人民共和国药典》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2025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年版通则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2341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中，三大类方法的农残检测前处理，包括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7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个子流程的前处理自动化。人工制样和分样至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50ml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具盖离心管开始，至样品过滤到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2ml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进样小瓶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结束。</a:t>
            </a:r>
            <a:endParaRPr lang="zh-CN" altLang="en-US" sz="16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705" y="2878455"/>
            <a:ext cx="9279890" cy="337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检测自动化建设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思路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cxnSp>
        <p:nvCxnSpPr>
          <p:cNvPr id="41" name="直接连接符 40"/>
          <p:cNvCxnSpPr/>
          <p:nvPr>
            <p:custDataLst>
              <p:tags r:id="rId1"/>
            </p:custDataLst>
          </p:nvPr>
        </p:nvCxnSpPr>
        <p:spPr>
          <a:xfrm>
            <a:off x="4333240" y="2517775"/>
            <a:ext cx="0" cy="384619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2"/>
            </p:custDataLst>
          </p:nvPr>
        </p:nvCxnSpPr>
        <p:spPr>
          <a:xfrm>
            <a:off x="6085840" y="2527300"/>
            <a:ext cx="0" cy="38779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>
            <p:custDataLst>
              <p:tags r:id="rId3"/>
            </p:custDataLst>
          </p:nvPr>
        </p:nvCxnSpPr>
        <p:spPr>
          <a:xfrm>
            <a:off x="7838440" y="2527300"/>
            <a:ext cx="0" cy="390906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正文"/>
          <p:cNvSpPr txBox="1"/>
          <p:nvPr>
            <p:custDataLst>
              <p:tags r:id="rId4"/>
            </p:custDataLst>
          </p:nvPr>
        </p:nvSpPr>
        <p:spPr>
          <a:xfrm>
            <a:off x="857250" y="2983865"/>
            <a:ext cx="1640205" cy="38461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终端输入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采样信息（名称、检项、时间、地点、取样时间、取样人等）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打印样品标签（自动赋码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/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从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lIMS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下载）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49" name="标题"/>
          <p:cNvSpPr txBox="1"/>
          <p:nvPr>
            <p:custDataLst>
              <p:tags r:id="rId5"/>
            </p:custDataLst>
          </p:nvPr>
        </p:nvSpPr>
        <p:spPr>
          <a:xfrm>
            <a:off x="1092200" y="2623820"/>
            <a:ext cx="131572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取样贴标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3" name="五边形 2"/>
          <p:cNvSpPr/>
          <p:nvPr>
            <p:custDataLst>
              <p:tags r:id="rId6"/>
            </p:custDataLst>
          </p:nvPr>
        </p:nvSpPr>
        <p:spPr>
          <a:xfrm>
            <a:off x="849630" y="1925320"/>
            <a:ext cx="1746885" cy="337820"/>
          </a:xfrm>
          <a:prstGeom prst="homePlate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采样</a:t>
            </a: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抽样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53" name="标题"/>
          <p:cNvSpPr txBox="1"/>
          <p:nvPr>
            <p:custDataLst>
              <p:tags r:id="rId7"/>
            </p:custDataLst>
          </p:nvPr>
        </p:nvSpPr>
        <p:spPr>
          <a:xfrm>
            <a:off x="2799080" y="262382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制样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留样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</a:endParaRPr>
          </a:p>
        </p:txBody>
      </p:sp>
      <p:sp>
        <p:nvSpPr>
          <p:cNvPr id="55" name="标题"/>
          <p:cNvSpPr txBox="1"/>
          <p:nvPr>
            <p:custDataLst>
              <p:tags r:id="rId8"/>
            </p:custDataLst>
          </p:nvPr>
        </p:nvSpPr>
        <p:spPr>
          <a:xfrm>
            <a:off x="4551680" y="262382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称量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分样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57" name="标题"/>
          <p:cNvSpPr txBox="1"/>
          <p:nvPr>
            <p:custDataLst>
              <p:tags r:id="rId9"/>
            </p:custDataLst>
          </p:nvPr>
        </p:nvSpPr>
        <p:spPr>
          <a:xfrm>
            <a:off x="6090285" y="2669540"/>
            <a:ext cx="173228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charset="-122"/>
              </a:rPr>
              <a:t>提取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charset="-122"/>
              </a:rPr>
              <a:t>净化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charset="-122"/>
              </a:rPr>
              <a:t>浓缩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charset="-122"/>
            </a:endParaRPr>
          </a:p>
        </p:txBody>
      </p:sp>
      <p:sp>
        <p:nvSpPr>
          <p:cNvPr id="4" name="燕尾形 3"/>
          <p:cNvSpPr/>
          <p:nvPr>
            <p:custDataLst>
              <p:tags r:id="rId10"/>
            </p:custDataLst>
          </p:nvPr>
        </p:nvSpPr>
        <p:spPr>
          <a:xfrm>
            <a:off x="2599690" y="1925320"/>
            <a:ext cx="174625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收样</a:t>
            </a: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&amp;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制样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9" name="燕尾形 8"/>
          <p:cNvSpPr/>
          <p:nvPr>
            <p:custDataLst>
              <p:tags r:id="rId11"/>
            </p:custDataLst>
          </p:nvPr>
        </p:nvSpPr>
        <p:spPr>
          <a:xfrm>
            <a:off x="4349115" y="1925320"/>
            <a:ext cx="1746250" cy="337820"/>
          </a:xfrm>
          <a:prstGeom prst="chevron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称样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13" name="燕尾形 12"/>
          <p:cNvSpPr/>
          <p:nvPr>
            <p:custDataLst>
              <p:tags r:id="rId12"/>
            </p:custDataLst>
          </p:nvPr>
        </p:nvSpPr>
        <p:spPr>
          <a:xfrm>
            <a:off x="6098540" y="1925320"/>
            <a:ext cx="174625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前处理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5" name="燕尾形 4"/>
          <p:cNvSpPr/>
          <p:nvPr>
            <p:custDataLst>
              <p:tags r:id="rId13"/>
            </p:custDataLst>
          </p:nvPr>
        </p:nvSpPr>
        <p:spPr>
          <a:xfrm>
            <a:off x="7847965" y="1925320"/>
            <a:ext cx="1746250" cy="337820"/>
          </a:xfrm>
          <a:prstGeom prst="chevron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检测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14"/>
            </p:custDataLst>
          </p:nvPr>
        </p:nvCxnSpPr>
        <p:spPr>
          <a:xfrm>
            <a:off x="9591040" y="2527935"/>
            <a:ext cx="0" cy="39490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标题"/>
          <p:cNvSpPr txBox="1"/>
          <p:nvPr>
            <p:custDataLst>
              <p:tags r:id="rId15"/>
            </p:custDataLst>
          </p:nvPr>
        </p:nvSpPr>
        <p:spPr>
          <a:xfrm>
            <a:off x="8057515" y="262509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进样和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检测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11" name="燕尾形 10"/>
          <p:cNvSpPr/>
          <p:nvPr>
            <p:custDataLst>
              <p:tags r:id="rId16"/>
            </p:custDataLst>
          </p:nvPr>
        </p:nvSpPr>
        <p:spPr>
          <a:xfrm>
            <a:off x="9597390" y="1925320"/>
            <a:ext cx="174625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报告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7"/>
            </p:custDataLst>
          </p:nvPr>
        </p:nvCxnSpPr>
        <p:spPr>
          <a:xfrm>
            <a:off x="2580640" y="2517775"/>
            <a:ext cx="0" cy="37846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标题"/>
          <p:cNvSpPr txBox="1"/>
          <p:nvPr>
            <p:custDataLst>
              <p:tags r:id="rId18"/>
            </p:custDataLst>
          </p:nvPr>
        </p:nvSpPr>
        <p:spPr>
          <a:xfrm>
            <a:off x="9810750" y="262382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数据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处理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生成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报告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</a:endParaRPr>
          </a:p>
        </p:txBody>
      </p:sp>
      <p:pic>
        <p:nvPicPr>
          <p:cNvPr id="28" name="图片 27" descr="343439383331313b343532303032373bbfcdbba7b5b5b0b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19385" y="1346835"/>
            <a:ext cx="302400" cy="302400"/>
          </a:xfrm>
          <a:prstGeom prst="rect">
            <a:avLst/>
          </a:prstGeom>
        </p:spPr>
      </p:pic>
      <p:pic>
        <p:nvPicPr>
          <p:cNvPr id="12" name="图片 11" descr="核酸检测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1530" y="1342390"/>
            <a:ext cx="374650" cy="302895"/>
          </a:xfrm>
          <a:prstGeom prst="rect">
            <a:avLst/>
          </a:prstGeom>
        </p:spPr>
      </p:pic>
      <p:sp>
        <p:nvSpPr>
          <p:cNvPr id="17" name="正文"/>
          <p:cNvSpPr txBox="1"/>
          <p:nvPr>
            <p:custDataLst>
              <p:tags r:id="rId24"/>
            </p:custDataLst>
          </p:nvPr>
        </p:nvSpPr>
        <p:spPr>
          <a:xfrm>
            <a:off x="2632075" y="297751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制样，重新贴标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A&amp;B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瓶，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留样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18" name="正文"/>
          <p:cNvSpPr txBox="1"/>
          <p:nvPr>
            <p:custDataLst>
              <p:tags r:id="rId25"/>
            </p:custDataLst>
          </p:nvPr>
        </p:nvSpPr>
        <p:spPr>
          <a:xfrm>
            <a:off x="4389755" y="296354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按标准要求称量样品至指定试管，重新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赋码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19" name="正文"/>
          <p:cNvSpPr txBox="1"/>
          <p:nvPr>
            <p:custDataLst>
              <p:tags r:id="rId26"/>
            </p:custDataLst>
          </p:nvPr>
        </p:nvSpPr>
        <p:spPr>
          <a:xfrm>
            <a:off x="6198870" y="2951480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预置标准前处理实验方法，实验步骤和仪器参数、实验物料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清单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按前处理实验方法，自动完成所有前处理步骤，记录实验过程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数据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20" name="正文"/>
          <p:cNvSpPr txBox="1"/>
          <p:nvPr>
            <p:custDataLst>
              <p:tags r:id="rId27"/>
            </p:custDataLst>
          </p:nvPr>
        </p:nvSpPr>
        <p:spPr>
          <a:xfrm>
            <a:off x="7894955" y="295211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自动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将样品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放至自动进样器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/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进样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盘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自动建检测批次和样品序列，启动仪器完成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检测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自动建标曲和数据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处理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21" name="正文"/>
          <p:cNvSpPr txBox="1"/>
          <p:nvPr>
            <p:custDataLst>
              <p:tags r:id="rId28"/>
            </p:custDataLst>
          </p:nvPr>
        </p:nvSpPr>
        <p:spPr>
          <a:xfrm>
            <a:off x="9704705" y="295338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内嵌标准计算公式，自动完成各检项结果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计算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按样品自动整合所有检项结果，按判定标准自动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按断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按模版生成原始报告和正式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报告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按审批流程完成报告审批和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签发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pic>
        <p:nvPicPr>
          <p:cNvPr id="23" name="图片 22" descr="食品称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34585" y="1341755"/>
            <a:ext cx="347980" cy="347980"/>
          </a:xfrm>
          <a:prstGeom prst="rect">
            <a:avLst/>
          </a:prstGeom>
        </p:spPr>
      </p:pic>
      <p:pic>
        <p:nvPicPr>
          <p:cNvPr id="24" name="图片 23" descr="搅拌机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285490" y="1357630"/>
            <a:ext cx="374650" cy="374650"/>
          </a:xfrm>
          <a:prstGeom prst="rect">
            <a:avLst/>
          </a:prstGeom>
        </p:spPr>
      </p:pic>
      <p:pic>
        <p:nvPicPr>
          <p:cNvPr id="29" name="图片 28" descr="实验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853555" y="1358265"/>
            <a:ext cx="325755" cy="325755"/>
          </a:xfrm>
          <a:prstGeom prst="rect">
            <a:avLst/>
          </a:prstGeom>
        </p:spPr>
      </p:pic>
      <p:pic>
        <p:nvPicPr>
          <p:cNvPr id="30" name="图片 29" descr="礼物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493520" y="1384300"/>
            <a:ext cx="347980" cy="347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自动化方案实现流程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63700"/>
            <a:ext cx="12192000" cy="22720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6055"/>
            <a:ext cx="12192000" cy="19551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自动化方案实现流程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59890"/>
            <a:ext cx="12192000" cy="4780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自动化方案实现整体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布局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930" y="1468755"/>
            <a:ext cx="11360150" cy="10147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  <a:buNone/>
            </a:pPr>
            <a:r>
              <a:rPr 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整套自动化系统包括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6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个平台，实现包括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7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个前处理子流程的自动化。人工制样和分样至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50ml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具盖离心管开始，至样品过滤到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2ml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进样小瓶结束。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80665"/>
            <a:ext cx="12192000" cy="2528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自动化方案实现：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第四法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5930" y="6003925"/>
            <a:ext cx="11198225" cy="65595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自动化流程：提取平台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盐析平台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离心净化平台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浓缩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+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过滤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930" y="1123315"/>
            <a:ext cx="11011294" cy="2052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" y="3280410"/>
            <a:ext cx="12192000" cy="25285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自动化方案实现：第五法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 QuEChERS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方法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5930" y="6003925"/>
            <a:ext cx="11198225" cy="65595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自动化流程：提取平台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盐析平台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离心净化平台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浓缩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+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过滤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" y="3423285"/>
            <a:ext cx="12192000" cy="25285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" y="1218565"/>
            <a:ext cx="5902672" cy="216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1567815"/>
            <a:ext cx="6235065" cy="1196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自动化方案实现：第五法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固相萃取法方法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一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5930" y="6003925"/>
            <a:ext cx="11198225" cy="65595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自动化流程：提取平台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盐析平台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离心净化平台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浓缩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+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过滤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" y="3423285"/>
            <a:ext cx="12192000" cy="25285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" y="1218565"/>
            <a:ext cx="5902672" cy="21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1512570"/>
            <a:ext cx="6328600" cy="118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自动化方案实现：第五法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固相萃取法方法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二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5930" y="6003925"/>
            <a:ext cx="11198225" cy="65595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自动化流程：提取平台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盐析平台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离心净化平台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→SPE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浓缩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+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过滤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" y="3423285"/>
            <a:ext cx="12192000" cy="25285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" y="1218565"/>
            <a:ext cx="5902672" cy="216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1515110"/>
            <a:ext cx="6303673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自动化方案实现：第五法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固相萃取法方法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三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5930" y="6003925"/>
            <a:ext cx="11198225" cy="65595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自动化流程：提取平台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盐析平台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离心净化平台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→SPE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浓缩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+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过滤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" y="3423285"/>
            <a:ext cx="12192000" cy="25285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" y="1218565"/>
            <a:ext cx="5902672" cy="21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1218565"/>
            <a:ext cx="6221840" cy="205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自动化方案实现：第六法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枸杞子、百合、麦冬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5930" y="6003925"/>
            <a:ext cx="11198225" cy="65595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自动化流程：提取平台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盐析平台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离心净化平台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浓缩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+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过滤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" y="3423285"/>
            <a:ext cx="12192000" cy="25285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5870"/>
            <a:ext cx="12192000" cy="19551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自动化方案效率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估算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2" name="图片 1" descr="39bb25ec1c0a24cf0c1ab2ea9701416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6770" y="1219835"/>
            <a:ext cx="8174053" cy="54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自动化方案场地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需求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365125" y="2656840"/>
            <a:ext cx="4676775" cy="0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6293485" y="2656840"/>
            <a:ext cx="5826125" cy="0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67945" y="2923540"/>
            <a:ext cx="0" cy="627380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111125" y="4512310"/>
            <a:ext cx="0" cy="737870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5137785" y="2395855"/>
            <a:ext cx="995680" cy="41338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200000"/>
              </a:lnSpc>
            </a:pPr>
            <a:r>
              <a:rPr lang="en-US" sz="1600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6000mm</a:t>
            </a:r>
            <a:endParaRPr lang="en-US" sz="1600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 rot="5400000">
            <a:off x="-243840" y="3848100"/>
            <a:ext cx="883920" cy="41338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200000"/>
              </a:lnSpc>
            </a:pPr>
            <a:r>
              <a:rPr lang="en-US" sz="1600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850mm</a:t>
            </a:r>
            <a:endParaRPr lang="en-US" sz="1600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2923540"/>
            <a:ext cx="11803515" cy="244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55930" y="1375410"/>
            <a:ext cx="11360150" cy="10147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  <a:buNone/>
            </a:pPr>
            <a:r>
              <a:rPr 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整套自动化系统包括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6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个平台，长度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6m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，深度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0.85m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，高度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2m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。建议实验室长度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8m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以上，宽度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3.5m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以上。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落地建设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周期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-17780" y="1031240"/>
            <a:ext cx="12245975" cy="0"/>
          </a:xfrm>
          <a:prstGeom prst="line">
            <a:avLst/>
          </a:prstGeom>
          <a:ln cap="flat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-15240" y="1122680"/>
            <a:ext cx="12245975" cy="0"/>
          </a:xfrm>
          <a:prstGeom prst="line">
            <a:avLst/>
          </a:prstGeom>
          <a:ln w="47625" cap="flat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7" name="表格 26"/>
          <p:cNvGraphicFramePr/>
          <p:nvPr>
            <p:custDataLst>
              <p:tags r:id="rId1"/>
            </p:custDataLst>
          </p:nvPr>
        </p:nvGraphicFramePr>
        <p:xfrm>
          <a:off x="1312545" y="1741170"/>
          <a:ext cx="9102090" cy="5011420"/>
        </p:xfrm>
        <a:graphic>
          <a:graphicData uri="http://schemas.openxmlformats.org/drawingml/2006/table">
            <a:tbl>
              <a:tblPr/>
              <a:tblGrid>
                <a:gridCol w="803910"/>
                <a:gridCol w="1601470"/>
                <a:gridCol w="1819910"/>
                <a:gridCol w="3756025"/>
                <a:gridCol w="1120775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</a:rPr>
                        <a:t>序号</a:t>
                      </a:r>
                      <a:endParaRPr lang="zh-CN" altLang="en-US" sz="1000" b="0" i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</a:rPr>
                        <a:t>建设阶段</a:t>
                      </a:r>
                      <a:endParaRPr lang="zh-CN" altLang="en-US" sz="1000" b="0" i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</a:rPr>
                        <a:t>建设内容</a:t>
                      </a:r>
                      <a:endParaRPr lang="zh-CN" altLang="en-US" sz="1000" b="0" i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</a:rPr>
                        <a:t>周期（</a:t>
                      </a:r>
                      <a:r>
                        <a:rPr lang="zh-CN" altLang="en-US" sz="1000" b="0" i="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</a:rPr>
                        <a:t>天）</a:t>
                      </a:r>
                      <a:endParaRPr lang="zh-CN" altLang="en-US" sz="1000" b="0" i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20700"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生产和集成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生产计划审批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系统需求梳理，确认系统方案后统计需生产的自动化模块、搬运机器人、物料托盘、试剂托盘，统计需采购的分析检测仪器和耗材物料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01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模块生产和设备采购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按生产计划完成物料采购和安装测试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工厂调试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子系统安装和调试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按拆分子系统完成模块集成和调试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4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9083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全流程系统联调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整合所有子系统，完成全流程系统联调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0985"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出厂前验证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空跑试运行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空动作全流程系统联调连续三天运行稳定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670">
                <a:tc vMerge="1"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sym typeface="+mn-ea"/>
                        </a:rPr>
                        <a:t>出厂带料跑试运行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ctr" fontAlgn="ctr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用水或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有机溶剂取代样品，带料全流程系统联调连续三天运行稳定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798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设备打包和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物流运输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从工厂拆除设备打包封箱后发往现场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99720"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现场安装和调试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子系统安装和调试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设备到现场后，按子系统完成模块安装和调试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全流程调试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整合所有子系统，完成全流程系统联调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9875"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现场试运行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空跑试运行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空动作全流程系统联调连续三天运行稳定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830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带料跑试运行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用水取代样品和试剂，带料全流程系统联调连续三天运行稳定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80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系统使用培训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准备培训材料，组织相关用户培训系统使用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08305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系统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用户联合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和用户联合完成在自动化系统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测试标准工作溶液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的回收率和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RSD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值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系统验收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指导用户正常使用自动化系统三天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1312545" y="1289685"/>
            <a:ext cx="6840220" cy="360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正常自动化系统方案落地建设，分八个阶段，建设周期</a:t>
            </a:r>
            <a:r>
              <a:rPr lang="en-US" altLang="zh-CN" sz="14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</a:t>
            </a:r>
            <a:r>
              <a:rPr lang="zh-CN" altLang="en-US" sz="14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个月。</a:t>
            </a:r>
            <a:endParaRPr lang="zh-CN" altLang="en-US" sz="14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09925" y="1766888"/>
            <a:ext cx="6115050" cy="16621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6600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百  泉  聚  兴</a:t>
            </a:r>
            <a:endParaRPr lang="en-US" altLang="zh-CN" sz="6600" b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auto"/>
            <a:r>
              <a:rPr lang="zh-CN" altLang="en-US" sz="3600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聚科技之势  兴百业之泉</a:t>
            </a:r>
            <a:endParaRPr lang="zh-CN" altLang="en-US" sz="3600" b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36_5*n_h_h_i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36_5*n_h_h_i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36_5*n_h_h_i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4_1"/>
  <p:tag name="KSO_WM_UNIT_ID" val="diagram20231636_5*n_h_h_i*1_2_4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5_1"/>
  <p:tag name="KSO_WM_UNIT_ID" val="diagram20231636_5*n_h_h_i*1_2_5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1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1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2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2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3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3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5395_4*m_h_a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1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5395_4*m_h_a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5395_4*m_h_a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5395_4*m_h_a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2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3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4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5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4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4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5395_4*m_h_a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6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6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5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5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5395_4*m_h_a*1_6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x*1_6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84*84"/>
  <p:tag name="KSO_WM_UNIT_TYPE" val="m_h_x"/>
  <p:tag name="KSO_WM_UNIT_INDEX" val="1_6_1"/>
  <p:tag name="KSO_WM_DIAGRAM_GROUP_CODE" val="m1-1"/>
  <p:tag name="KSO_WM_DIAGRAM_VERSION" val="3"/>
  <p:tag name="KSO_WM_DIAGRAM_COLOR_TRICK" val="2"/>
  <p:tag name="KSO_WM_DIAGRAM_COLOR_TEXT_CAN_REMOVE" val="n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2800000011920929,&quot;transparency&quot;:0},{&quot;brightness&quot;:0.4000000059604645,&quot;colorType&quot;:1,&quot;foreColorIndex&quot;:8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TABLE_ENDDRAG_ORIGIN_RECT" val="716*404"/>
  <p:tag name="TABLE_ENDDRAG_RECT" val="171*101*716*404"/>
</p:tagLst>
</file>

<file path=ppt/tags/tag35.xml><?xml version="1.0" encoding="utf-8"?>
<p:tagLst xmlns:p="http://schemas.openxmlformats.org/presentationml/2006/main">
  <p:tag name="COMMONDATA" val="eyJoZGlkIjoiYjEyM2E4NDFhNWIyMjFlMWE4MTYxZTcxOGRiZjNhMzAifQ=="/>
  <p:tag name="commondata" val="eyJoZGlkIjoiZTZlMTIyNzhhZWEwMWM4YWI4MzYyNmQ0NGM2NjVlNzgifQ=="/>
  <p:tag name="resource_record_key" val="{&quot;70&quot;:[3318479,3318873,3403270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1623</Words>
  <Application>WPS 表格</Application>
  <PresentationFormat>宽屏</PresentationFormat>
  <Paragraphs>287</Paragraphs>
  <Slides>17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Arial</vt:lpstr>
      <vt:lpstr>宋体</vt:lpstr>
      <vt:lpstr>Wingdings</vt:lpstr>
      <vt:lpstr>等线</vt:lpstr>
      <vt:lpstr>汉仪中等线KW</vt:lpstr>
      <vt:lpstr>微软雅黑</vt:lpstr>
      <vt:lpstr>汉仪旗黑</vt:lpstr>
      <vt:lpstr>Songti SC Bold</vt:lpstr>
      <vt:lpstr>Songti SC Regular</vt:lpstr>
      <vt:lpstr>微软雅黑</vt:lpstr>
      <vt:lpstr>Wingdings</vt:lpstr>
      <vt:lpstr>仿宋</vt:lpstr>
      <vt:lpstr>仿宋_GB2312</vt:lpstr>
      <vt:lpstr>微软雅黑</vt:lpstr>
      <vt:lpstr>宋体</vt:lpstr>
      <vt:lpstr>Arial Unicode MS</vt:lpstr>
      <vt:lpstr>汉仪书宋二KW</vt:lpstr>
      <vt:lpstr>等线 Light</vt:lpstr>
      <vt:lpstr>方正仿宋_GBK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锫 刘</dc:creator>
  <cp:lastModifiedBy>妹丽</cp:lastModifiedBy>
  <cp:revision>304</cp:revision>
  <dcterms:created xsi:type="dcterms:W3CDTF">2026-01-14T01:55:24Z</dcterms:created>
  <dcterms:modified xsi:type="dcterms:W3CDTF">2026-01-14T01:55:24Z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B0EA208E68039706E674646972D113D7_43</vt:lpwstr>
  </property>
  <property fmtid="{D5CDD505-2E9C-101B-9397-08002B2CF9AE}" pid="3" name="KSOProductBuildVer">
    <vt:lpwstr>2052-6.12.1.8902</vt:lpwstr>
  </property>
</Properties>
</file>
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816" r:id="rId6"/>
    <p:sldId id="753" r:id="rId7"/>
    <p:sldId id="747" r:id="rId8"/>
    <p:sldId id="775" r:id="rId9"/>
    <p:sldId id="773" r:id="rId10"/>
    <p:sldId id="810" r:id="rId11"/>
    <p:sldId id="790" r:id="rId12"/>
    <p:sldId id="801" r:id="rId13"/>
    <p:sldId id="806" r:id="rId14"/>
    <p:sldId id="805" r:id="rId15"/>
    <p:sldId id="811" r:id="rId16"/>
    <p:sldId id="813" r:id="rId17"/>
    <p:sldId id="814" r:id="rId18"/>
    <p:sldId id="815" r:id="rId19"/>
    <p:sldId id="270" r:id="rId20"/>
  </p:sldIdLst>
  <p:sldSz cx="12192000" cy="6858000"/>
  <p:notesSz cx="6858000" cy="9144000"/>
  <p:custDataLst>
    <p:tags r:id="rId2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1" userDrawn="1">
          <p15:clr>
            <a:srgbClr val="A4A3A4"/>
          </p15:clr>
        </p15:guide>
        <p15:guide id="2" pos="2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5E88"/>
    <a:srgbClr val="DBE0E8"/>
    <a:srgbClr val="EAEDF6"/>
    <a:srgbClr val="EFE5AA"/>
    <a:srgbClr val="F0F0F0"/>
    <a:srgbClr val="BAE19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50"/>
    <p:restoredTop sz="93673"/>
  </p:normalViewPr>
  <p:slideViewPr>
    <p:cSldViewPr snapToGrid="0" showGuides="1">
      <p:cViewPr varScale="1">
        <p:scale>
          <a:sx n="101" d="100"/>
          <a:sy n="101" d="100"/>
        </p:scale>
        <p:origin x="208" y="776"/>
      </p:cViewPr>
      <p:guideLst>
        <p:guide orient="horz" pos="1831"/>
        <p:guide pos="280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200" d="100"/>
        <a:sy n="200" d="100"/>
      </p:scale>
      <p:origin x="0" y="-3612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34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9700D684-9A9F-4B64-97DA-D4BEFF07EFE7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150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509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E5D9236C-C337-4105-B779-A59191212E3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3250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325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7" name="组合 6"/>
          <p:cNvGrpSpPr/>
          <p:nvPr userDrawn="1"/>
        </p:nvGrpSpPr>
        <p:grpSpPr>
          <a:xfrm>
            <a:off x="7831138" y="6242050"/>
            <a:ext cx="4360862" cy="708025"/>
            <a:chOff x="8278515" y="6300618"/>
            <a:chExt cx="3687256" cy="707886"/>
          </a:xfrm>
        </p:grpSpPr>
        <p:pic>
          <p:nvPicPr>
            <p:cNvPr id="3078" name="图片 7"/>
            <p:cNvPicPr>
              <a:picLocks noChangeAspect="1"/>
            </p:cNvPicPr>
            <p:nvPr/>
          </p:nvPicPr>
          <p:blipFill>
            <a:blip r:embed="rId2"/>
            <a:srcRect l="1196" t="4465" r="69160" b="3108"/>
            <a:stretch>
              <a:fillRect/>
            </a:stretch>
          </p:blipFill>
          <p:spPr>
            <a:xfrm>
              <a:off x="8278515" y="6300618"/>
              <a:ext cx="439711" cy="40011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文本框 8"/>
            <p:cNvSpPr txBox="1"/>
            <p:nvPr/>
          </p:nvSpPr>
          <p:spPr>
            <a:xfrm>
              <a:off x="8718226" y="6300618"/>
              <a:ext cx="324754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20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294A5A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百泉聚兴（北京）科技有限公司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D5A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08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175"/>
            <a:ext cx="12192000" cy="3995738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</p:pic>
      <p:sp>
        <p:nvSpPr>
          <p:cNvPr id="11" name="Rectangle 5"/>
          <p:cNvSpPr>
            <a:spLocks noChangeArrowheads="1"/>
          </p:cNvSpPr>
          <p:nvPr userDrawn="1"/>
        </p:nvSpPr>
        <p:spPr bwMode="auto">
          <a:xfrm>
            <a:off x="0" y="3932238"/>
            <a:ext cx="7142163" cy="82550"/>
          </a:xfrm>
          <a:prstGeom prst="rect">
            <a:avLst/>
          </a:prstGeom>
          <a:solidFill>
            <a:srgbClr val="294A5A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ChangeArrowheads="1"/>
          </p:cNvSpPr>
          <p:nvPr userDrawn="1"/>
        </p:nvSpPr>
        <p:spPr bwMode="auto">
          <a:xfrm>
            <a:off x="7131050" y="3932238"/>
            <a:ext cx="1265238" cy="82550"/>
          </a:xfrm>
          <a:prstGeom prst="rect">
            <a:avLst/>
          </a:prstGeom>
          <a:solidFill>
            <a:srgbClr val="484849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3" name="Rectangle 7"/>
          <p:cNvSpPr>
            <a:spLocks noChangeArrowheads="1"/>
          </p:cNvSpPr>
          <p:nvPr userDrawn="1"/>
        </p:nvSpPr>
        <p:spPr bwMode="auto">
          <a:xfrm>
            <a:off x="8396288" y="3932238"/>
            <a:ext cx="1265238" cy="82550"/>
          </a:xfrm>
          <a:prstGeom prst="rect">
            <a:avLst/>
          </a:prstGeom>
          <a:solidFill>
            <a:srgbClr val="99CC39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ChangeArrowheads="1"/>
          </p:cNvSpPr>
          <p:nvPr userDrawn="1"/>
        </p:nvSpPr>
        <p:spPr bwMode="auto">
          <a:xfrm>
            <a:off x="9661525" y="3932238"/>
            <a:ext cx="1265238" cy="82550"/>
          </a:xfrm>
          <a:prstGeom prst="rect">
            <a:avLst/>
          </a:prstGeom>
          <a:solidFill>
            <a:srgbClr val="F9C900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ChangeArrowheads="1"/>
          </p:cNvSpPr>
          <p:nvPr userDrawn="1"/>
        </p:nvSpPr>
        <p:spPr bwMode="auto">
          <a:xfrm>
            <a:off x="10926763" y="3932238"/>
            <a:ext cx="1265238" cy="82550"/>
          </a:xfrm>
          <a:prstGeom prst="rect">
            <a:avLst/>
          </a:prstGeom>
          <a:solidFill>
            <a:srgbClr val="ED5A00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01" name="直接连接符 11"/>
          <p:cNvCxnSpPr/>
          <p:nvPr userDrawn="1"/>
        </p:nvCxnSpPr>
        <p:spPr>
          <a:xfrm>
            <a:off x="0" y="1036638"/>
            <a:ext cx="12192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直接连接符 12"/>
          <p:cNvCxnSpPr/>
          <p:nvPr userDrawn="1"/>
        </p:nvCxnSpPr>
        <p:spPr bwMode="auto">
          <a:xfrm>
            <a:off x="0" y="1117600"/>
            <a:ext cx="12192000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1.png"/><Relationship Id="rId7" Type="http://schemas.openxmlformats.org/officeDocument/2006/relationships/image" Target="../media/image4.jpeg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6" name="直接连接符 20"/>
          <p:cNvCxnSpPr/>
          <p:nvPr userDrawn="1"/>
        </p:nvCxnSpPr>
        <p:spPr>
          <a:xfrm>
            <a:off x="0" y="1036638"/>
            <a:ext cx="12192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直接连接符 21"/>
          <p:cNvCxnSpPr/>
          <p:nvPr userDrawn="1"/>
        </p:nvCxnSpPr>
        <p:spPr bwMode="auto">
          <a:xfrm>
            <a:off x="0" y="1117600"/>
            <a:ext cx="12192000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图片 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102850" y="239713"/>
            <a:ext cx="1868488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6"/>
          <p:cNvPicPr>
            <a:picLocks noChangeAspect="1"/>
          </p:cNvPicPr>
          <p:nvPr userDrawn="1"/>
        </p:nvPicPr>
        <p:blipFill>
          <a:blip r:embed="rId7"/>
          <a:srcRect t="13953" b="21162"/>
          <a:stretch>
            <a:fillRect/>
          </a:stretch>
        </p:blipFill>
        <p:spPr>
          <a:xfrm>
            <a:off x="0" y="1989138"/>
            <a:ext cx="12192000" cy="259238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组合 7"/>
          <p:cNvGrpSpPr/>
          <p:nvPr userDrawn="1"/>
        </p:nvGrpSpPr>
        <p:grpSpPr>
          <a:xfrm>
            <a:off x="7831138" y="6242050"/>
            <a:ext cx="4360862" cy="708025"/>
            <a:chOff x="8278515" y="6300618"/>
            <a:chExt cx="3687256" cy="707886"/>
          </a:xfrm>
        </p:grpSpPr>
        <p:pic>
          <p:nvPicPr>
            <p:cNvPr id="2052" name="图片 8"/>
            <p:cNvPicPr>
              <a:picLocks noChangeAspect="1"/>
            </p:cNvPicPr>
            <p:nvPr/>
          </p:nvPicPr>
          <p:blipFill>
            <a:blip r:embed="rId8"/>
            <a:srcRect l="1196" t="4465" r="69160" b="3108"/>
            <a:stretch>
              <a:fillRect/>
            </a:stretch>
          </p:blipFill>
          <p:spPr>
            <a:xfrm>
              <a:off x="8278515" y="6300618"/>
              <a:ext cx="439711" cy="40011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" name="文本框 9"/>
            <p:cNvSpPr txBox="1"/>
            <p:nvPr/>
          </p:nvSpPr>
          <p:spPr>
            <a:xfrm>
              <a:off x="8718226" y="6300618"/>
              <a:ext cx="324754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20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294A5A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百泉聚兴（北京）科技有限公司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D5A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8" Type="http://schemas.openxmlformats.org/officeDocument/2006/relationships/notesSlide" Target="../notesSlides/notesSlide4.xml"/><Relationship Id="rId37" Type="http://schemas.openxmlformats.org/officeDocument/2006/relationships/slideLayout" Target="../slideLayouts/slideLayout2.xml"/><Relationship Id="rId36" Type="http://schemas.openxmlformats.org/officeDocument/2006/relationships/image" Target="../media/image17.svg"/><Relationship Id="rId35" Type="http://schemas.openxmlformats.org/officeDocument/2006/relationships/image" Target="../media/image16.png"/><Relationship Id="rId34" Type="http://schemas.openxmlformats.org/officeDocument/2006/relationships/image" Target="../media/image15.svg"/><Relationship Id="rId33" Type="http://schemas.openxmlformats.org/officeDocument/2006/relationships/image" Target="../media/image14.png"/><Relationship Id="rId32" Type="http://schemas.openxmlformats.org/officeDocument/2006/relationships/image" Target="../media/image13.svg"/><Relationship Id="rId31" Type="http://schemas.openxmlformats.org/officeDocument/2006/relationships/image" Target="../media/image12.png"/><Relationship Id="rId30" Type="http://schemas.openxmlformats.org/officeDocument/2006/relationships/image" Target="../media/image11.svg"/><Relationship Id="rId3" Type="http://schemas.openxmlformats.org/officeDocument/2006/relationships/tags" Target="../tags/tag12.xml"/><Relationship Id="rId29" Type="http://schemas.openxmlformats.org/officeDocument/2006/relationships/image" Target="../media/image10.png"/><Relationship Id="rId28" Type="http://schemas.openxmlformats.org/officeDocument/2006/relationships/tags" Target="../tags/tag33.xml"/><Relationship Id="rId27" Type="http://schemas.openxmlformats.org/officeDocument/2006/relationships/tags" Target="../tags/tag32.xml"/><Relationship Id="rId26" Type="http://schemas.openxmlformats.org/officeDocument/2006/relationships/tags" Target="../tags/tag31.xml"/><Relationship Id="rId25" Type="http://schemas.openxmlformats.org/officeDocument/2006/relationships/tags" Target="../tags/tag30.xml"/><Relationship Id="rId24" Type="http://schemas.openxmlformats.org/officeDocument/2006/relationships/tags" Target="../tags/tag29.xml"/><Relationship Id="rId23" Type="http://schemas.openxmlformats.org/officeDocument/2006/relationships/image" Target="../media/image9.svg"/><Relationship Id="rId22" Type="http://schemas.openxmlformats.org/officeDocument/2006/relationships/image" Target="../media/image8.png"/><Relationship Id="rId21" Type="http://schemas.openxmlformats.org/officeDocument/2006/relationships/image" Target="../media/image7.svg"/><Relationship Id="rId20" Type="http://schemas.openxmlformats.org/officeDocument/2006/relationships/image" Target="../media/image6.png"/><Relationship Id="rId2" Type="http://schemas.openxmlformats.org/officeDocument/2006/relationships/tags" Target="../tags/tag11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文本框 1"/>
          <p:cNvSpPr txBox="1"/>
          <p:nvPr/>
        </p:nvSpPr>
        <p:spPr>
          <a:xfrm>
            <a:off x="990600" y="1679575"/>
            <a:ext cx="10706100" cy="2214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百泉聚兴</a:t>
            </a:r>
            <a:r>
              <a:rPr lang="en-US" altLang="zh-CN" sz="48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endParaRPr lang="en-US" altLang="zh-CN" sz="48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4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兽残</a:t>
            </a:r>
            <a:r>
              <a:rPr lang="zh-CN" sz="4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专项检测自动化</a:t>
            </a:r>
            <a:r>
              <a:rPr lang="zh-CN" sz="4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方案</a:t>
            </a:r>
            <a:endParaRPr lang="zh-CN" sz="4400" b="1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22530" name="文本框 3"/>
          <p:cNvSpPr txBox="1"/>
          <p:nvPr/>
        </p:nvSpPr>
        <p:spPr>
          <a:xfrm>
            <a:off x="990600" y="4130675"/>
            <a:ext cx="61055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From Technology To Engineering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方案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结构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" name="对象11"/>
          <p:cNvSpPr/>
          <p:nvPr>
            <p:custDataLst>
              <p:tags r:id="rId1"/>
            </p:custDataLst>
          </p:nvPr>
        </p:nvSpPr>
        <p:spPr>
          <a:xfrm>
            <a:off x="1563688" y="1413193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/>
                </a:solidFill>
                <a:latin typeface="Songti SC Regular" panose="02010800040101010101" charset="-122"/>
                <a:ea typeface="Songti SC Regular" panose="02010800040101010101" charset="-122"/>
                <a:cs typeface="+mn-ea"/>
                <a:sym typeface="+mn-ea"/>
              </a:rPr>
              <a:t>01</a:t>
            </a:r>
            <a:endParaRPr lang="en-US" altLang="zh-CN" sz="2400">
              <a:solidFill>
                <a:schemeClr val="lt1"/>
              </a:solidFill>
              <a:latin typeface="Songti SC Regular" panose="02010800040101010101" charset="-122"/>
              <a:ea typeface="Songti SC Regular" panose="02010800040101010101" charset="-122"/>
              <a:cs typeface="+mn-ea"/>
              <a:sym typeface="+mn-ea"/>
            </a:endParaRPr>
          </a:p>
        </p:txBody>
      </p:sp>
      <p:sp>
        <p:nvSpPr>
          <p:cNvPr id="6" name="对象12"/>
          <p:cNvSpPr/>
          <p:nvPr>
            <p:custDataLst>
              <p:tags r:id="rId2"/>
            </p:custDataLst>
          </p:nvPr>
        </p:nvSpPr>
        <p:spPr>
          <a:xfrm>
            <a:off x="1563688" y="3198813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/>
                </a:solidFill>
                <a:latin typeface="Songti SC Regular" panose="02010800040101010101" charset="-122"/>
                <a:ea typeface="Songti SC Regular" panose="02010800040101010101" charset="-122"/>
                <a:cs typeface="+mn-ea"/>
                <a:sym typeface="+mn-ea"/>
              </a:rPr>
              <a:t>03</a:t>
            </a:r>
            <a:endParaRPr lang="en-US" altLang="zh-CN" sz="2400">
              <a:solidFill>
                <a:schemeClr val="lt1"/>
              </a:solidFill>
              <a:latin typeface="Songti SC Regular" panose="02010800040101010101" charset="-122"/>
              <a:ea typeface="Songti SC Regular" panose="02010800040101010101" charset="-122"/>
              <a:cs typeface="+mn-ea"/>
              <a:sym typeface="+mn-ea"/>
            </a:endParaRPr>
          </a:p>
        </p:txBody>
      </p:sp>
      <p:sp>
        <p:nvSpPr>
          <p:cNvPr id="11" name="对象13"/>
          <p:cNvSpPr/>
          <p:nvPr>
            <p:custDataLst>
              <p:tags r:id="rId3"/>
            </p:custDataLst>
          </p:nvPr>
        </p:nvSpPr>
        <p:spPr>
          <a:xfrm>
            <a:off x="1563688" y="225837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2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/>
                </a:solidFill>
                <a:latin typeface="Songti SC Regular" panose="02010800040101010101" charset="-122"/>
                <a:ea typeface="Songti SC Regular" panose="02010800040101010101" charset="-122"/>
                <a:cs typeface="+mn-ea"/>
                <a:sym typeface="+mn-ea"/>
              </a:rPr>
              <a:t>02</a:t>
            </a:r>
            <a:endParaRPr lang="en-US" altLang="zh-CN" sz="2400">
              <a:solidFill>
                <a:schemeClr val="lt1"/>
              </a:solidFill>
              <a:latin typeface="Songti SC Regular" panose="02010800040101010101" charset="-122"/>
              <a:ea typeface="Songti SC Regular" panose="02010800040101010101" charset="-122"/>
              <a:cs typeface="+mn-ea"/>
              <a:sym typeface="+mn-ea"/>
            </a:endParaRPr>
          </a:p>
        </p:txBody>
      </p:sp>
      <p:sp>
        <p:nvSpPr>
          <p:cNvPr id="13" name="对象14"/>
          <p:cNvSpPr/>
          <p:nvPr>
            <p:custDataLst>
              <p:tags r:id="rId4"/>
            </p:custDataLst>
          </p:nvPr>
        </p:nvSpPr>
        <p:spPr>
          <a:xfrm flipH="1">
            <a:off x="1563688" y="408590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2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/>
                </a:solidFill>
                <a:latin typeface="Songti SC Regular" panose="02010800040101010101" charset="-122"/>
                <a:ea typeface="Songti SC Regular" panose="02010800040101010101" charset="-122"/>
                <a:cs typeface="+mn-ea"/>
                <a:sym typeface="+mn-ea"/>
              </a:rPr>
              <a:t>04</a:t>
            </a:r>
            <a:endParaRPr lang="en-US" altLang="zh-CN" sz="2400">
              <a:solidFill>
                <a:schemeClr val="lt1"/>
              </a:solidFill>
              <a:latin typeface="Songti SC Regular" panose="02010800040101010101" charset="-122"/>
              <a:ea typeface="Songti SC Regular" panose="02010800040101010101" charset="-122"/>
              <a:cs typeface="+mn-ea"/>
              <a:sym typeface="+mn-ea"/>
            </a:endParaRPr>
          </a:p>
        </p:txBody>
      </p:sp>
      <p:sp>
        <p:nvSpPr>
          <p:cNvPr id="14" name="对象16"/>
          <p:cNvSpPr/>
          <p:nvPr>
            <p:custDataLst>
              <p:tags r:id="rId5"/>
            </p:custDataLst>
          </p:nvPr>
        </p:nvSpPr>
        <p:spPr>
          <a:xfrm flipH="1">
            <a:off x="1564005" y="498856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/>
                </a:solidFill>
                <a:latin typeface="Songti SC Regular" panose="02010800040101010101" charset="-122"/>
                <a:ea typeface="Songti SC Regular" panose="02010800040101010101" charset="-122"/>
                <a:cs typeface="+mn-ea"/>
                <a:sym typeface="+mn-ea"/>
              </a:rPr>
              <a:t>05</a:t>
            </a:r>
            <a:endParaRPr lang="en-US" altLang="zh-CN" sz="2400">
              <a:solidFill>
                <a:schemeClr val="lt1"/>
              </a:solidFill>
              <a:latin typeface="Songti SC Regular" panose="02010800040101010101" charset="-122"/>
              <a:ea typeface="Songti SC Regular" panose="02010800040101010101" charset="-122"/>
              <a:cs typeface="+mn-ea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763520" y="1576070"/>
            <a:ext cx="4498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微软雅黑" charset="0"/>
                <a:ea typeface="微软雅黑" charset="0"/>
                <a:cs typeface="+mn-ea"/>
                <a:sym typeface="+mn-ea"/>
              </a:rPr>
              <a:t>兽残专项自动化需求</a:t>
            </a:r>
            <a:endParaRPr lang="zh-CN" altLang="en-US" sz="2400">
              <a:solidFill>
                <a:schemeClr val="accent1"/>
              </a:solidFill>
              <a:latin typeface="Songti SC Regular" panose="02010800040101010101" charset="-122"/>
              <a:ea typeface="Songti SC Regular" panose="02010800040101010101" charset="-122"/>
              <a:cs typeface="Songti SC Regular" panose="0201080004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2763520" y="330073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>
                <a:solidFill>
                  <a:schemeClr val="accent1"/>
                </a:solidFill>
                <a:latin typeface="微软雅黑" charset="0"/>
                <a:ea typeface="微软雅黑" charset="0"/>
                <a:cs typeface="+mn-ea"/>
                <a:sym typeface="+mn-ea"/>
              </a:rPr>
              <a:t>兽残专项检测自动化方案</a:t>
            </a:r>
            <a:endParaRPr lang="zh-CN" altLang="en-US" sz="2400">
              <a:solidFill>
                <a:schemeClr val="accent1"/>
              </a:solidFill>
              <a:latin typeface="Songti SC Regular" panose="02010800040101010101" charset="-122"/>
              <a:ea typeface="Songti SC Regular" panose="02010800040101010101" charset="-122"/>
              <a:cs typeface="Songti SC Regular" panose="02010800040101010101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2763520" y="4184015"/>
            <a:ext cx="44983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accent1"/>
                </a:solidFill>
                <a:latin typeface="微软雅黑" charset="0"/>
                <a:ea typeface="微软雅黑" charset="0"/>
                <a:cs typeface="+mn-ea"/>
                <a:sym typeface="+mn-ea"/>
              </a:rPr>
              <a:t>自动化效率估算</a:t>
            </a:r>
            <a:endParaRPr lang="zh-CN" altLang="en-US" sz="2400">
              <a:solidFill>
                <a:schemeClr val="accent1"/>
              </a:solidFill>
              <a:latin typeface="Songti SC Regular" panose="02010800040101010101" charset="-122"/>
              <a:ea typeface="Songti SC Regular" panose="02010800040101010101" charset="-122"/>
              <a:cs typeface="Songti SC Regular" panose="0201080004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2763520" y="50634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accent1"/>
                </a:solidFill>
                <a:latin typeface="微软雅黑" charset="0"/>
                <a:ea typeface="微软雅黑" charset="0"/>
                <a:cs typeface="+mn-ea"/>
                <a:sym typeface="+mn-ea"/>
              </a:rPr>
              <a:t>自动化实验室环境需求</a:t>
            </a:r>
            <a:endParaRPr lang="zh-CN" altLang="en-US" sz="2400">
              <a:solidFill>
                <a:schemeClr val="accent1"/>
              </a:solidFill>
              <a:latin typeface="Songti SC Regular" panose="02010800040101010101" charset="-122"/>
              <a:ea typeface="Songti SC Regular" panose="0201080004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2763520" y="2449830"/>
            <a:ext cx="44983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accent1"/>
                </a:solidFill>
                <a:latin typeface="微软雅黑" charset="0"/>
                <a:ea typeface="微软雅黑" charset="0"/>
                <a:cs typeface="+mn-ea"/>
                <a:sym typeface="+mn-ea"/>
              </a:rPr>
              <a:t>百泉检测自动化解决方案</a:t>
            </a:r>
            <a:r>
              <a:rPr lang="en-US" altLang="zh-CN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 </a:t>
            </a:r>
            <a:endParaRPr lang="zh-CN" altLang="en-US" sz="2400">
              <a:solidFill>
                <a:schemeClr val="accent1"/>
              </a:solidFill>
              <a:latin typeface="Songti SC Regular" panose="02010800040101010101" charset="-122"/>
              <a:ea typeface="Songti SC Regular" panose="02010800040101010101" charset="-122"/>
              <a:cs typeface="Songti SC Regular" panose="020108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需求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4460" y="1499870"/>
            <a:ext cx="119056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样品范围：动物源性</a:t>
            </a: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食品</a:t>
            </a:r>
            <a:endParaRPr lang="zh-CN" altLang="en-US" sz="1600" b="1">
              <a:solidFill>
                <a:schemeClr val="accent5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遵循标准范围：三个标准，前处理按基质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4</a:t>
            </a: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个前处理</a:t>
            </a: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流程，</a:t>
            </a:r>
            <a:endParaRPr lang="zh-CN" altLang="en-US" sz="1600" b="1">
              <a:solidFill>
                <a:schemeClr val="accent5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出报告</a:t>
            </a: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时间：</a:t>
            </a: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所有样品收样后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20</a:t>
            </a: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天内出报告，大兽残筛查筛查量待定，</a:t>
            </a: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硝基呋喃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20</a:t>
            </a: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天完成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200</a:t>
            </a:r>
            <a:r>
              <a:rPr lang="zh-CN" altLang="en-US" sz="16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份。</a:t>
            </a:r>
            <a:endParaRPr lang="zh-CN" altLang="en-US" sz="1600" b="1">
              <a:solidFill>
                <a:schemeClr val="accent5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32785"/>
            <a:ext cx="12192000" cy="22282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检测自动化建设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思路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cxnSp>
        <p:nvCxnSpPr>
          <p:cNvPr id="41" name="直接连接符 40"/>
          <p:cNvCxnSpPr/>
          <p:nvPr>
            <p:custDataLst>
              <p:tags r:id="rId1"/>
            </p:custDataLst>
          </p:nvPr>
        </p:nvCxnSpPr>
        <p:spPr>
          <a:xfrm>
            <a:off x="4333240" y="2517775"/>
            <a:ext cx="0" cy="384619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2"/>
            </p:custDataLst>
          </p:nvPr>
        </p:nvCxnSpPr>
        <p:spPr>
          <a:xfrm>
            <a:off x="6085840" y="2527300"/>
            <a:ext cx="0" cy="387794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>
            <p:custDataLst>
              <p:tags r:id="rId3"/>
            </p:custDataLst>
          </p:nvPr>
        </p:nvCxnSpPr>
        <p:spPr>
          <a:xfrm>
            <a:off x="7838440" y="2527300"/>
            <a:ext cx="0" cy="390906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正文"/>
          <p:cNvSpPr txBox="1"/>
          <p:nvPr>
            <p:custDataLst>
              <p:tags r:id="rId4"/>
            </p:custDataLst>
          </p:nvPr>
        </p:nvSpPr>
        <p:spPr>
          <a:xfrm>
            <a:off x="857250" y="2983865"/>
            <a:ext cx="1640205" cy="38461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终端输入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采样信息（名称、检项、时间、地点、取样时间、取样人等）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打印样品标签（自动赋码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/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从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lIMS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下载）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sp>
        <p:nvSpPr>
          <p:cNvPr id="49" name="标题"/>
          <p:cNvSpPr txBox="1"/>
          <p:nvPr>
            <p:custDataLst>
              <p:tags r:id="rId5"/>
            </p:custDataLst>
          </p:nvPr>
        </p:nvSpPr>
        <p:spPr>
          <a:xfrm>
            <a:off x="1092200" y="2623820"/>
            <a:ext cx="131572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</a:rPr>
              <a:t>取样贴标</a:t>
            </a:r>
            <a:endParaRPr lang="zh-CN" altLang="en-US" b="1" dirty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3" name="五边形 2"/>
          <p:cNvSpPr/>
          <p:nvPr>
            <p:custDataLst>
              <p:tags r:id="rId6"/>
            </p:custDataLst>
          </p:nvPr>
        </p:nvSpPr>
        <p:spPr>
          <a:xfrm>
            <a:off x="849630" y="1925320"/>
            <a:ext cx="1746885" cy="337820"/>
          </a:xfrm>
          <a:prstGeom prst="homePlate">
            <a:avLst/>
          </a:prstGeom>
          <a:gradFill>
            <a:gsLst>
              <a:gs pos="28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采样</a:t>
            </a:r>
            <a:r>
              <a:rPr lang="en-US" altLang="zh-CN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抽样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sp>
        <p:nvSpPr>
          <p:cNvPr id="53" name="标题"/>
          <p:cNvSpPr txBox="1"/>
          <p:nvPr>
            <p:custDataLst>
              <p:tags r:id="rId7"/>
            </p:custDataLst>
          </p:nvPr>
        </p:nvSpPr>
        <p:spPr>
          <a:xfrm>
            <a:off x="2799080" y="2623820"/>
            <a:ext cx="1315085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制样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留样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</a:endParaRPr>
          </a:p>
        </p:txBody>
      </p:sp>
      <p:sp>
        <p:nvSpPr>
          <p:cNvPr id="55" name="标题"/>
          <p:cNvSpPr txBox="1"/>
          <p:nvPr>
            <p:custDataLst>
              <p:tags r:id="rId8"/>
            </p:custDataLst>
          </p:nvPr>
        </p:nvSpPr>
        <p:spPr>
          <a:xfrm>
            <a:off x="4551680" y="2623820"/>
            <a:ext cx="1315085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</a:rPr>
              <a:t>称量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</a:rPr>
              <a:t>分样</a:t>
            </a:r>
            <a:endParaRPr lang="zh-CN" altLang="en-US" b="1" dirty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57" name="标题"/>
          <p:cNvSpPr txBox="1"/>
          <p:nvPr>
            <p:custDataLst>
              <p:tags r:id="rId9"/>
            </p:custDataLst>
          </p:nvPr>
        </p:nvSpPr>
        <p:spPr>
          <a:xfrm>
            <a:off x="6090285" y="2669540"/>
            <a:ext cx="173228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charset="-122"/>
              </a:rPr>
              <a:t>水解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charset="-122"/>
              </a:rPr>
              <a:t>-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charset="-122"/>
              </a:rPr>
              <a:t>衍生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charset="-122"/>
              </a:rPr>
              <a:t>-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charset="-122"/>
              </a:rPr>
              <a:t>提取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charset="-122"/>
              </a:rPr>
              <a:t>-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charset="-122"/>
              </a:rPr>
              <a:t>净化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charset="-122"/>
              </a:rPr>
              <a:t>-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charset="-122"/>
              </a:rPr>
              <a:t>浓缩</a:t>
            </a:r>
            <a:endParaRPr lang="zh-CN" altLang="en-US" sz="1600" b="1" dirty="0">
              <a:solidFill>
                <a:schemeClr val="accent2"/>
              </a:solidFill>
              <a:latin typeface="微软雅黑" panose="020B0503020204020204" charset="-122"/>
            </a:endParaRPr>
          </a:p>
        </p:txBody>
      </p:sp>
      <p:sp>
        <p:nvSpPr>
          <p:cNvPr id="4" name="燕尾形 3"/>
          <p:cNvSpPr/>
          <p:nvPr>
            <p:custDataLst>
              <p:tags r:id="rId10"/>
            </p:custDataLst>
          </p:nvPr>
        </p:nvSpPr>
        <p:spPr>
          <a:xfrm>
            <a:off x="2599690" y="1925320"/>
            <a:ext cx="1746250" cy="337820"/>
          </a:xfrm>
          <a:prstGeom prst="chevron">
            <a:avLst/>
          </a:prstGeom>
          <a:gradFill>
            <a:gsLst>
              <a:gs pos="5900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收样</a:t>
            </a:r>
            <a:r>
              <a:rPr lang="en-US" altLang="zh-CN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&amp;</a:t>
            </a: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制样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sp>
        <p:nvSpPr>
          <p:cNvPr id="9" name="燕尾形 8"/>
          <p:cNvSpPr/>
          <p:nvPr>
            <p:custDataLst>
              <p:tags r:id="rId11"/>
            </p:custDataLst>
          </p:nvPr>
        </p:nvSpPr>
        <p:spPr>
          <a:xfrm>
            <a:off x="4349115" y="1925320"/>
            <a:ext cx="1746250" cy="337820"/>
          </a:xfrm>
          <a:prstGeom prst="chevron">
            <a:avLst/>
          </a:prstGeom>
          <a:gradFill>
            <a:gsLst>
              <a:gs pos="28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称样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sp>
        <p:nvSpPr>
          <p:cNvPr id="13" name="燕尾形 12"/>
          <p:cNvSpPr/>
          <p:nvPr>
            <p:custDataLst>
              <p:tags r:id="rId12"/>
            </p:custDataLst>
          </p:nvPr>
        </p:nvSpPr>
        <p:spPr>
          <a:xfrm>
            <a:off x="6098540" y="1925320"/>
            <a:ext cx="1746250" cy="337820"/>
          </a:xfrm>
          <a:prstGeom prst="chevron">
            <a:avLst/>
          </a:prstGeom>
          <a:gradFill>
            <a:gsLst>
              <a:gs pos="5900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前处理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sp>
        <p:nvSpPr>
          <p:cNvPr id="5" name="燕尾形 4"/>
          <p:cNvSpPr/>
          <p:nvPr>
            <p:custDataLst>
              <p:tags r:id="rId13"/>
            </p:custDataLst>
          </p:nvPr>
        </p:nvSpPr>
        <p:spPr>
          <a:xfrm>
            <a:off x="7847965" y="1925320"/>
            <a:ext cx="1746250" cy="337820"/>
          </a:xfrm>
          <a:prstGeom prst="chevron">
            <a:avLst/>
          </a:prstGeom>
          <a:gradFill>
            <a:gsLst>
              <a:gs pos="28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检测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14"/>
            </p:custDataLst>
          </p:nvPr>
        </p:nvCxnSpPr>
        <p:spPr>
          <a:xfrm>
            <a:off x="9591040" y="2527935"/>
            <a:ext cx="0" cy="39490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标题"/>
          <p:cNvSpPr txBox="1"/>
          <p:nvPr>
            <p:custDataLst>
              <p:tags r:id="rId15"/>
            </p:custDataLst>
          </p:nvPr>
        </p:nvSpPr>
        <p:spPr>
          <a:xfrm>
            <a:off x="8057515" y="2625090"/>
            <a:ext cx="1315085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</a:rPr>
              <a:t>进样和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</a:rPr>
              <a:t>检测</a:t>
            </a:r>
            <a:endParaRPr lang="zh-CN" altLang="en-US" b="1" dirty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11" name="燕尾形 10"/>
          <p:cNvSpPr/>
          <p:nvPr>
            <p:custDataLst>
              <p:tags r:id="rId16"/>
            </p:custDataLst>
          </p:nvPr>
        </p:nvSpPr>
        <p:spPr>
          <a:xfrm>
            <a:off x="9597390" y="1925320"/>
            <a:ext cx="1746250" cy="337820"/>
          </a:xfrm>
          <a:prstGeom prst="chevron">
            <a:avLst/>
          </a:prstGeom>
          <a:gradFill>
            <a:gsLst>
              <a:gs pos="5900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报告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17"/>
            </p:custDataLst>
          </p:nvPr>
        </p:nvCxnSpPr>
        <p:spPr>
          <a:xfrm>
            <a:off x="2580640" y="2517775"/>
            <a:ext cx="0" cy="37846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标题"/>
          <p:cNvSpPr txBox="1"/>
          <p:nvPr>
            <p:custDataLst>
              <p:tags r:id="rId18"/>
            </p:custDataLst>
          </p:nvPr>
        </p:nvSpPr>
        <p:spPr>
          <a:xfrm>
            <a:off x="9810750" y="2623820"/>
            <a:ext cx="1315085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数据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处理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</a:endParaRPr>
          </a:p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生成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报告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</a:endParaRPr>
          </a:p>
        </p:txBody>
      </p:sp>
      <p:pic>
        <p:nvPicPr>
          <p:cNvPr id="28" name="图片 27" descr="343439383331313b343532303032373bbfcdbba7b5b5b0b8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319385" y="1346835"/>
            <a:ext cx="302400" cy="302400"/>
          </a:xfrm>
          <a:prstGeom prst="rect">
            <a:avLst/>
          </a:prstGeom>
        </p:spPr>
      </p:pic>
      <p:pic>
        <p:nvPicPr>
          <p:cNvPr id="12" name="图片 11" descr="核酸检测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31530" y="1342390"/>
            <a:ext cx="374650" cy="302895"/>
          </a:xfrm>
          <a:prstGeom prst="rect">
            <a:avLst/>
          </a:prstGeom>
        </p:spPr>
      </p:pic>
      <p:sp>
        <p:nvSpPr>
          <p:cNvPr id="17" name="正文"/>
          <p:cNvSpPr txBox="1"/>
          <p:nvPr>
            <p:custDataLst>
              <p:tags r:id="rId24"/>
            </p:custDataLst>
          </p:nvPr>
        </p:nvSpPr>
        <p:spPr>
          <a:xfrm>
            <a:off x="2632075" y="2977515"/>
            <a:ext cx="1640205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制样，重新贴标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A&amp;B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瓶，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留样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sp>
        <p:nvSpPr>
          <p:cNvPr id="18" name="正文"/>
          <p:cNvSpPr txBox="1"/>
          <p:nvPr>
            <p:custDataLst>
              <p:tags r:id="rId25"/>
            </p:custDataLst>
          </p:nvPr>
        </p:nvSpPr>
        <p:spPr>
          <a:xfrm>
            <a:off x="4389755" y="2963545"/>
            <a:ext cx="1640205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按标准要求称量样品至指定试管，重新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赋码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sp>
        <p:nvSpPr>
          <p:cNvPr id="19" name="正文"/>
          <p:cNvSpPr txBox="1"/>
          <p:nvPr>
            <p:custDataLst>
              <p:tags r:id="rId26"/>
            </p:custDataLst>
          </p:nvPr>
        </p:nvSpPr>
        <p:spPr>
          <a:xfrm>
            <a:off x="6198870" y="2951480"/>
            <a:ext cx="1640205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预置标准前处理实验方法，实验步骤和仪器参数、实验物料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清单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按前处理实验方法，自动完成所有前处理步骤，记录实验过程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数据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sp>
        <p:nvSpPr>
          <p:cNvPr id="20" name="正文"/>
          <p:cNvSpPr txBox="1"/>
          <p:nvPr>
            <p:custDataLst>
              <p:tags r:id="rId27"/>
            </p:custDataLst>
          </p:nvPr>
        </p:nvSpPr>
        <p:spPr>
          <a:xfrm>
            <a:off x="7894955" y="2952115"/>
            <a:ext cx="1640205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自动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将样品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放至自动进样器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/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进样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盘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自动建检测批次和样品序列，启动仪器完成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检测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自动建标曲和数据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处理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sp>
        <p:nvSpPr>
          <p:cNvPr id="21" name="正文"/>
          <p:cNvSpPr txBox="1"/>
          <p:nvPr>
            <p:custDataLst>
              <p:tags r:id="rId28"/>
            </p:custDataLst>
          </p:nvPr>
        </p:nvSpPr>
        <p:spPr>
          <a:xfrm>
            <a:off x="9704705" y="2953385"/>
            <a:ext cx="1640205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内嵌标准计算公式，自动完成各检项结果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计算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按样品自动整合所有检项结果，按判定标准自动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按断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按模版生成原始报告和正式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报告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按审批流程完成报告审批和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签发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pic>
        <p:nvPicPr>
          <p:cNvPr id="23" name="图片 22" descr="食品称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34585" y="1341755"/>
            <a:ext cx="347980" cy="347980"/>
          </a:xfrm>
          <a:prstGeom prst="rect">
            <a:avLst/>
          </a:prstGeom>
        </p:spPr>
      </p:pic>
      <p:pic>
        <p:nvPicPr>
          <p:cNvPr id="24" name="图片 23" descr="搅拌机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285490" y="1357630"/>
            <a:ext cx="374650" cy="374650"/>
          </a:xfrm>
          <a:prstGeom prst="rect">
            <a:avLst/>
          </a:prstGeom>
        </p:spPr>
      </p:pic>
      <p:pic>
        <p:nvPicPr>
          <p:cNvPr id="29" name="图片 28" descr="实验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853555" y="1358265"/>
            <a:ext cx="325755" cy="325755"/>
          </a:xfrm>
          <a:prstGeom prst="rect">
            <a:avLst/>
          </a:prstGeom>
        </p:spPr>
      </p:pic>
      <p:pic>
        <p:nvPicPr>
          <p:cNvPr id="30" name="图片 29" descr="礼物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493520" y="1384300"/>
            <a:ext cx="347980" cy="3479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自动化方案实现流程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拆解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47775"/>
            <a:ext cx="12192000" cy="50552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布局示意图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5930" y="1468755"/>
            <a:ext cx="11360150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</a:rPr>
              <a:t>兽残专项自动化检测方案以多品类兽残高通量大筛查为核心基础，深度整合自动化前处理与上机检测全流程，可同步实现硝基呋喃全自动化检测。</a:t>
            </a:r>
            <a:endParaRPr lang="zh-CN" altLang="en-US" sz="2000" b="1">
              <a:solidFill>
                <a:schemeClr val="accent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36875"/>
            <a:ext cx="12192000" cy="27438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自动化方案布局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3D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图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5930" y="1468755"/>
            <a:ext cx="11360150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</a:rPr>
              <a:t>兽残专项自动化检测方案以多品类兽残高通量大筛查为核心基础，深度整合自动化前处理与上机检测全流程，可同步实现硝基呋喃全自动化检测。</a:t>
            </a:r>
            <a:endParaRPr lang="zh-CN" altLang="en-US" sz="2000" b="1">
              <a:solidFill>
                <a:schemeClr val="accent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41015"/>
            <a:ext cx="12192000" cy="2882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样品流：大兽残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筛查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55930" y="6179185"/>
            <a:ext cx="11198225" cy="65595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50000"/>
              </a:lnSpc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自动化流程：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highlight>
                  <a:srgbClr val="00FF00"/>
                </a:highlight>
                <a:latin typeface="仿宋_GB2312" charset="0"/>
                <a:ea typeface="仿宋_GB2312" charset="0"/>
                <a:sym typeface="+mn-ea"/>
              </a:rPr>
              <a:t>智能仓库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提取平台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均质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&amp;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加内标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&amp;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调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PH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提取和净化平台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→SPE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净化平台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→2ml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离心净化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→LC-Q-TOF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检测平台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highlight>
                  <a:srgbClr val="00FF00"/>
                </a:highlight>
                <a:latin typeface="仿宋_GB2312" charset="0"/>
                <a:ea typeface="仿宋_GB2312" charset="0"/>
                <a:sym typeface="+mn-ea"/>
              </a:rPr>
              <a:t>智能仓库</a:t>
            </a:r>
            <a:endParaRPr lang="zh-CN" altLang="en-US" b="1">
              <a:ln>
                <a:noFill/>
              </a:ln>
              <a:solidFill>
                <a:srgbClr val="FF0000"/>
              </a:solidFill>
              <a:highlight>
                <a:srgbClr val="00FF00"/>
              </a:highlight>
              <a:latin typeface="仿宋_GB2312" charset="0"/>
              <a:ea typeface="仿宋_GB2312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820" y="1046480"/>
            <a:ext cx="11043774" cy="226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0265"/>
            <a:ext cx="12192000" cy="27438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自动化方案样品流：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21311-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硝基呋喃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55930" y="6161405"/>
            <a:ext cx="11198225" cy="65595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50000"/>
              </a:lnSpc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硝基呋喃流程：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highlight>
                  <a:srgbClr val="00FF00"/>
                </a:highlight>
                <a:latin typeface="仿宋_GB2312" charset="0"/>
                <a:ea typeface="仿宋_GB2312" charset="0"/>
                <a:sym typeface="+mn-ea"/>
              </a:rPr>
              <a:t>智能仓库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提取平台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均质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&amp;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加内标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&amp;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调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PH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恒温反应平台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提取平台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浓缩和复溶平台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→2ml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离心净化平台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→LC-MS/MS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检测平台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→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highlight>
                  <a:srgbClr val="00FF00"/>
                </a:highlight>
                <a:latin typeface="仿宋_GB2312" charset="0"/>
                <a:ea typeface="仿宋_GB2312" charset="0"/>
                <a:sym typeface="+mn-ea"/>
              </a:rPr>
              <a:t>智能仓库</a:t>
            </a:r>
            <a:endParaRPr lang="zh-CN" altLang="en-US" b="1">
              <a:ln>
                <a:noFill/>
              </a:ln>
              <a:solidFill>
                <a:srgbClr val="FF0000"/>
              </a:solidFill>
              <a:highlight>
                <a:srgbClr val="00FF00"/>
              </a:highlight>
              <a:latin typeface="仿宋_GB2312" charset="0"/>
              <a:ea typeface="仿宋_GB2312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65580"/>
            <a:ext cx="12192000" cy="13855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1173480"/>
            <a:ext cx="12192000" cy="278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50235"/>
            <a:ext cx="12192000" cy="27438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自动化效率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估算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0" y="1765935"/>
            <a:ext cx="5899150" cy="450405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200000"/>
              </a:lnSpc>
            </a:pPr>
            <a:r>
              <a:rPr lang="zh-CN" altLang="en-US" sz="2400" b="1">
                <a:ln>
                  <a:noFill/>
                </a:ln>
                <a:solidFill>
                  <a:srgbClr val="FF0000"/>
                </a:solidFill>
                <a:latin typeface="微软雅黑" charset="0"/>
                <a:ea typeface="微软雅黑" charset="0"/>
                <a:sym typeface="+mn-ea"/>
              </a:rPr>
              <a:t>不同标准</a:t>
            </a:r>
            <a:r>
              <a:rPr lang="zh-CN" altLang="en-US" sz="2400" b="1">
                <a:ln>
                  <a:noFill/>
                </a:ln>
                <a:solidFill>
                  <a:srgbClr val="FF0000"/>
                </a:solidFill>
                <a:latin typeface="微软雅黑" charset="0"/>
                <a:ea typeface="微软雅黑" charset="0"/>
                <a:sym typeface="+mn-ea"/>
              </a:rPr>
              <a:t>并行</a:t>
            </a:r>
            <a:endParaRPr lang="zh-CN" altLang="en-US" sz="2400" b="1">
              <a:ln>
                <a:noFill/>
              </a:ln>
              <a:solidFill>
                <a:srgbClr val="FF0000"/>
              </a:solidFill>
              <a:latin typeface="微软雅黑" charset="0"/>
              <a:ea typeface="微软雅黑" charset="0"/>
              <a:sym typeface="+mn-ea"/>
            </a:endParaRPr>
          </a:p>
          <a:p>
            <a:pPr algn="l">
              <a:lnSpc>
                <a:spcPct val="200000"/>
              </a:lnSpc>
              <a:buFont typeface="Wingdings" panose="05000000000000000000" charset="0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硝基呋喃水解和衍生化需要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19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个小时，可并行完成：</a:t>
            </a:r>
            <a:endParaRPr lang="zh-CN" altLang="en-US" b="1">
              <a:ln>
                <a:noFill/>
              </a:ln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charset="0"/>
              <a:buChar char="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高通量兽残：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64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份样品的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提取。</a:t>
            </a:r>
            <a:endParaRPr lang="zh-CN" altLang="en-US" b="1">
              <a:ln>
                <a:noFill/>
              </a:ln>
              <a:solidFill>
                <a:srgbClr val="FF0000"/>
              </a:solidFill>
              <a:latin typeface="仿宋_GB2312" charset="0"/>
              <a:ea typeface="仿宋_GB2312" charset="0"/>
              <a:sym typeface="+mn-ea"/>
            </a:endParaRPr>
          </a:p>
          <a:p>
            <a:pPr algn="l">
              <a:lnSpc>
                <a:spcPct val="200000"/>
              </a:lnSpc>
            </a:pPr>
            <a:endParaRPr lang="zh-CN" altLang="en-US" b="1">
              <a:ln>
                <a:noFill/>
              </a:ln>
              <a:solidFill>
                <a:srgbClr val="FF0000"/>
              </a:solidFill>
              <a:latin typeface="仿宋_GB2312" charset="0"/>
              <a:ea typeface="仿宋_GB2312" charset="0"/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391160" y="1765935"/>
            <a:ext cx="5476240" cy="450405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200000"/>
              </a:lnSpc>
            </a:pPr>
            <a:r>
              <a:rPr lang="zh-CN" altLang="en-US" sz="2400" b="1">
                <a:ln>
                  <a:noFill/>
                </a:ln>
                <a:solidFill>
                  <a:srgbClr val="FF0000"/>
                </a:solidFill>
                <a:latin typeface="微软雅黑" charset="0"/>
                <a:ea typeface="微软雅黑" charset="0"/>
                <a:sym typeface="+mn-ea"/>
              </a:rPr>
              <a:t>按标准单独执行</a:t>
            </a:r>
            <a:endParaRPr lang="zh-CN" altLang="en-US" sz="2400" b="1">
              <a:ln>
                <a:noFill/>
              </a:ln>
              <a:solidFill>
                <a:srgbClr val="FF0000"/>
              </a:solidFill>
              <a:latin typeface="微软雅黑" charset="0"/>
              <a:ea typeface="微软雅黑" charset="0"/>
              <a:sym typeface="+mn-ea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charset="0"/>
              <a:buChar char="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高通量筛查：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24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个小时完成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96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份样品前处理。</a:t>
            </a:r>
            <a:endParaRPr lang="zh-CN" altLang="en-US" b="1">
              <a:ln>
                <a:noFill/>
              </a:ln>
              <a:solidFill>
                <a:srgbClr val="FF0000"/>
              </a:solidFill>
              <a:latin typeface="仿宋_GB2312" charset="0"/>
              <a:ea typeface="仿宋_GB2312" charset="0"/>
              <a:sym typeface="+mn-ea"/>
            </a:endParaRPr>
          </a:p>
          <a:p>
            <a:pPr marL="285750" indent="-285750" algn="l">
              <a:lnSpc>
                <a:spcPct val="200000"/>
              </a:lnSpc>
              <a:buFont typeface="Wingdings" panose="05000000000000000000" charset="0"/>
              <a:buChar char="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硝基呋喃：</a:t>
            </a:r>
            <a:r>
              <a:rPr 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36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个小时完成</a:t>
            </a:r>
            <a:r>
              <a:rPr lang="en-US" altLang="zh-CN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48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份样品</a:t>
            </a:r>
            <a:r>
              <a:rPr lang="zh-CN" altLang="en-US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前处理。</a:t>
            </a:r>
            <a:endParaRPr lang="zh-CN" altLang="en-US" b="1">
              <a:ln>
                <a:noFill/>
              </a:ln>
              <a:solidFill>
                <a:srgbClr val="FF0000"/>
              </a:solidFill>
              <a:latin typeface="仿宋_GB2312" charset="0"/>
              <a:ea typeface="仿宋_GB2312" charset="0"/>
              <a:sym typeface="+mn-ea"/>
            </a:endParaRPr>
          </a:p>
          <a:p>
            <a:pPr algn="l">
              <a:lnSpc>
                <a:spcPct val="200000"/>
              </a:lnSpc>
            </a:pPr>
            <a:endParaRPr lang="zh-CN" altLang="en-US" b="1">
              <a:ln>
                <a:noFill/>
              </a:ln>
              <a:solidFill>
                <a:srgbClr val="FF0000"/>
              </a:solidFill>
              <a:latin typeface="仿宋_GB2312" charset="0"/>
              <a:ea typeface="仿宋_GB2312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自动化实验室环境需求：原始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图纸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420" y="1123315"/>
            <a:ext cx="8838810" cy="5724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自动化实验室环境需求：平面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设计图纸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595" y="1123315"/>
            <a:ext cx="9432941" cy="572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自动化实验室环境需求：管道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排风图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" y="1283335"/>
            <a:ext cx="12071975" cy="5472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自动化实验室环境需求：气路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分布图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" y="1485265"/>
            <a:ext cx="11963077" cy="4860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自动化实验室环境需求：强弱电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系统图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30" y="1195070"/>
            <a:ext cx="11097900" cy="5616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09925" y="1766888"/>
            <a:ext cx="6115050" cy="166211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fontAlgn="auto"/>
            <a:r>
              <a:rPr lang="zh-CN" altLang="en-US" sz="6600" b="1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百  泉  聚  兴</a:t>
            </a:r>
            <a:endParaRPr lang="en-US" altLang="zh-CN" sz="6600" b="1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auto"/>
            <a:r>
              <a:rPr lang="zh-CN" altLang="en-US" sz="3600" b="1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聚科技之势  兴百业之泉</a:t>
            </a:r>
            <a:endParaRPr lang="zh-CN" altLang="en-US" sz="3600" b="1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1_1"/>
  <p:tag name="KSO_WM_UNIT_ID" val="diagram20231636_5*n_h_h_i*1_2_1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6.7424481201173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3_1"/>
  <p:tag name="KSO_WM_UNIT_ID" val="diagram20231636_5*n_h_h_i*1_2_3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6.7424481201173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2_1"/>
  <p:tag name="KSO_WM_UNIT_ID" val="diagram20231636_5*n_h_h_i*1_2_2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6.7424481201173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4_1"/>
  <p:tag name="KSO_WM_UNIT_ID" val="diagram20231636_5*n_h_h_i*1_2_4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6.7424481201173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5_1"/>
  <p:tag name="KSO_WM_UNIT_ID" val="diagram20231636_5*n_h_h_i*1_2_5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6.7424481201173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i*1_1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UNIT_TYPE" val="m_i"/>
  <p:tag name="KSO_WM_UNIT_INDEX" val="1_1"/>
  <p:tag name="KSO_WM_DIAGRAM_GROUP_CODE" val="m1-1"/>
  <p:tag name="KSO_WM_DIAGRAM_VERSION" val="3"/>
  <p:tag name="KSO_WM_DIAGRAM_COLOR_TRICK" val="2"/>
  <p:tag name="KSO_WM_DIAGRAM_COLOR_TEXT_CAN_REMOVE" val="n"/>
  <p:tag name="KSO_WM_UNIT_LINE_FORE_SCHEMECOLOR_INDEX" val="1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i*1_2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UNIT_TYPE" val="m_i"/>
  <p:tag name="KSO_WM_UNIT_INDEX" val="1_2"/>
  <p:tag name="KSO_WM_DIAGRAM_GROUP_CODE" val="m1-1"/>
  <p:tag name="KSO_WM_DIAGRAM_VERSION" val="3"/>
  <p:tag name="KSO_WM_DIAGRAM_COLOR_TRICK" val="2"/>
  <p:tag name="KSO_WM_DIAGRAM_COLOR_TEXT_CAN_REMOVE" val="n"/>
  <p:tag name="KSO_WM_UNIT_LINE_FORE_SCHEMECOLOR_INDEX" val="1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i*1_3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UNIT_TYPE" val="m_i"/>
  <p:tag name="KSO_WM_UNIT_INDEX" val="1_3"/>
  <p:tag name="KSO_WM_DIAGRAM_GROUP_CODE" val="m1-1"/>
  <p:tag name="KSO_WM_DIAGRAM_VERSION" val="3"/>
  <p:tag name="KSO_WM_DIAGRAM_COLOR_TRICK" val="2"/>
  <p:tag name="KSO_WM_DIAGRAM_COLOR_TEXT_CAN_REMOVE" val="n"/>
  <p:tag name="KSO_WM_UNIT_LINE_FORE_SCHEMECOLOR_INDEX" val="1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5395_4*m_h_a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1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5,&quot;pos&quot;:0.2800000011920929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5395_4*m_h_a*1_2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5395_4*m_h_a*1_3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5395_4*m_h_a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2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2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8,&quot;pos&quot;:0.5899999737739563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3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3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5,&quot;pos&quot;:0.2800000011920929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4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8,&quot;pos&quot;:0.5899999737739563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5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5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5,&quot;pos&quot;:0.2800000011920929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i*1_4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UNIT_TYPE" val="m_i"/>
  <p:tag name="KSO_WM_UNIT_INDEX" val="1_4"/>
  <p:tag name="KSO_WM_DIAGRAM_GROUP_CODE" val="m1-1"/>
  <p:tag name="KSO_WM_DIAGRAM_VERSION" val="3"/>
  <p:tag name="KSO_WM_DIAGRAM_COLOR_TRICK" val="2"/>
  <p:tag name="KSO_WM_DIAGRAM_COLOR_TEXT_CAN_REMOVE" val="n"/>
  <p:tag name="KSO_WM_UNIT_LINE_FORE_SCHEMECOLOR_INDEX" val="1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5395_4*m_h_a*1_5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6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6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8,&quot;pos&quot;:0.5899999737739563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i*1_5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UNIT_TYPE" val="m_i"/>
  <p:tag name="KSO_WM_UNIT_INDEX" val="1_5"/>
  <p:tag name="KSO_WM_DIAGRAM_GROUP_CODE" val="m1-1"/>
  <p:tag name="KSO_WM_DIAGRAM_VERSION" val="3"/>
  <p:tag name="KSO_WM_DIAGRAM_COLOR_TRICK" val="2"/>
  <p:tag name="KSO_WM_DIAGRAM_COLOR_TEXT_CAN_REMOVE" val="n"/>
  <p:tag name="KSO_WM_UNIT_LINE_FORE_SCHEMECOLOR_INDEX" val="1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6_1"/>
  <p:tag name="KSO_WM_UNIT_ID" val="diagram20235395_4*m_h_a*1_6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x*1_6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VALUE" val="84*84"/>
  <p:tag name="KSO_WM_UNIT_TYPE" val="m_h_x"/>
  <p:tag name="KSO_WM_UNIT_INDEX" val="1_6_1"/>
  <p:tag name="KSO_WM_DIAGRAM_GROUP_CODE" val="m1-1"/>
  <p:tag name="KSO_WM_DIAGRAM_VERSION" val="3"/>
  <p:tag name="KSO_WM_DIAGRAM_COLOR_TRICK" val="2"/>
  <p:tag name="KSO_WM_DIAGRAM_COLOR_TEXT_CAN_REMOVE" val="n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8,&quot;pos&quot;:0.2800000011920929,&quot;transparency&quot;:0},{&quot;brightness&quot;:0.4000000059604645,&quot;colorType&quot;:1,&quot;foreColorIndex&quot;:8,&quot;pos&quot;:0.9999899864196777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COMMONDATA" val="eyJoZGlkIjoiYjEyM2E4NDFhNWIyMjFlMWE4MTYxZTcxOGRiZjNhMzAifQ=="/>
  <p:tag name="commondata" val="eyJoZGlkIjoiZTZlMTIyNzhhZWEwMWM4YWI4MzYyNmQ0NGM2NjVlNzgifQ=="/>
  <p:tag name="resource_record_key" val="{&quot;70&quot;:[3318479,3318873,3403270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1070</Words>
  <Application>WPS 表格</Application>
  <PresentationFormat>宽屏</PresentationFormat>
  <Paragraphs>134</Paragraphs>
  <Slides>16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8" baseType="lpstr">
      <vt:lpstr>Arial</vt:lpstr>
      <vt:lpstr>宋体</vt:lpstr>
      <vt:lpstr>Wingdings</vt:lpstr>
      <vt:lpstr>等线</vt:lpstr>
      <vt:lpstr>汉仪中等线KW</vt:lpstr>
      <vt:lpstr>微软雅黑</vt:lpstr>
      <vt:lpstr>汉仪旗黑</vt:lpstr>
      <vt:lpstr>微软雅黑</vt:lpstr>
      <vt:lpstr>Wingdings</vt:lpstr>
      <vt:lpstr>仿宋</vt:lpstr>
      <vt:lpstr>仿宋_GB2312</vt:lpstr>
      <vt:lpstr>微软雅黑</vt:lpstr>
      <vt:lpstr>宋体</vt:lpstr>
      <vt:lpstr>Arial Unicode MS</vt:lpstr>
      <vt:lpstr>等线 Light</vt:lpstr>
      <vt:lpstr>方正仿宋_GBK</vt:lpstr>
      <vt:lpstr>汉仪书宋二KW</vt:lpstr>
      <vt:lpstr>Apple Color Emoji</vt:lpstr>
      <vt:lpstr>等线</vt:lpstr>
      <vt:lpstr>Songti SC Regular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锫 刘</dc:creator>
  <cp:lastModifiedBy>妹丽</cp:lastModifiedBy>
  <cp:revision>302</cp:revision>
  <dcterms:created xsi:type="dcterms:W3CDTF">2026-03-23T04:16:40Z</dcterms:created>
  <dcterms:modified xsi:type="dcterms:W3CDTF">2026-03-23T04:16:40Z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035055632BE1496A04BDC0694DB42904_43</vt:lpwstr>
  </property>
  <property fmtid="{D5CDD505-2E9C-101B-9397-08002B2CF9AE}" pid="3" name="KSOProductBuildVer">
    <vt:lpwstr>2052-6.12.1.8902</vt:lpwstr>
  </property>
</Properties>
</file>
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810" r:id="rId6"/>
    <p:sldId id="753" r:id="rId7"/>
    <p:sldId id="747" r:id="rId8"/>
    <p:sldId id="775" r:id="rId9"/>
    <p:sldId id="806" r:id="rId10"/>
    <p:sldId id="805" r:id="rId11"/>
    <p:sldId id="768" r:id="rId12"/>
    <p:sldId id="270" r:id="rId13"/>
  </p:sldIdLst>
  <p:sldSz cx="12192000" cy="6858000"/>
  <p:notesSz cx="6858000" cy="9144000"/>
  <p:custDataLst>
    <p:tags r:id="rId17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等线" panose="02010600030101010101" charset="-122"/>
        <a:ea typeface="等线" panose="02010600030101010101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42" userDrawn="1">
          <p15:clr>
            <a:srgbClr val="A4A3A4"/>
          </p15:clr>
        </p15:guide>
        <p15:guide id="2" pos="28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5E88"/>
    <a:srgbClr val="DBE0E8"/>
    <a:srgbClr val="EAEDF6"/>
    <a:srgbClr val="EFE5AA"/>
    <a:srgbClr val="F0F0F0"/>
    <a:srgbClr val="BAE198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50"/>
    <p:restoredTop sz="93673"/>
  </p:normalViewPr>
  <p:slideViewPr>
    <p:cSldViewPr snapToGrid="0" showGuides="1">
      <p:cViewPr varScale="1">
        <p:scale>
          <a:sx n="101" d="100"/>
          <a:sy n="101" d="100"/>
        </p:scale>
        <p:origin x="208" y="776"/>
      </p:cViewPr>
      <p:guideLst>
        <p:guide orient="horz" pos="1842"/>
        <p:guide pos="280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200" d="100"/>
        <a:sy n="200" d="100"/>
      </p:scale>
      <p:origin x="0" y="-3612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gs" Target="tags/tag37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9700D684-9A9F-4B64-97DA-D4BEFF07EFE7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21508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1509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E5D9236C-C337-4105-B779-A59191212E33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53250" name="备注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 dirty="0"/>
          </a:p>
        </p:txBody>
      </p:sp>
      <p:sp>
        <p:nvSpPr>
          <p:cNvPr id="53251" name="灯片编号占位符 3"/>
          <p:cNvSpPr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>
                <a:latin typeface="等线" panose="02010600030101010101" charset="-122"/>
                <a:ea typeface="等线" panose="02010600030101010101" charset="-122"/>
              </a:rPr>
            </a:fld>
            <a:endParaRPr lang="zh-CN" altLang="en-US" sz="120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7" name="组合 6"/>
          <p:cNvGrpSpPr/>
          <p:nvPr userDrawn="1"/>
        </p:nvGrpSpPr>
        <p:grpSpPr>
          <a:xfrm>
            <a:off x="7831138" y="6242050"/>
            <a:ext cx="4360862" cy="708025"/>
            <a:chOff x="8278515" y="6300618"/>
            <a:chExt cx="3687256" cy="707886"/>
          </a:xfrm>
        </p:grpSpPr>
        <p:pic>
          <p:nvPicPr>
            <p:cNvPr id="3078" name="图片 7"/>
            <p:cNvPicPr>
              <a:picLocks noChangeAspect="1"/>
            </p:cNvPicPr>
            <p:nvPr/>
          </p:nvPicPr>
          <p:blipFill>
            <a:blip r:embed="rId2"/>
            <a:srcRect l="1196" t="4465" r="69160" b="3108"/>
            <a:stretch>
              <a:fillRect/>
            </a:stretch>
          </p:blipFill>
          <p:spPr>
            <a:xfrm>
              <a:off x="8278515" y="6300618"/>
              <a:ext cx="439711" cy="40011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文本框 8"/>
            <p:cNvSpPr txBox="1"/>
            <p:nvPr/>
          </p:nvSpPr>
          <p:spPr>
            <a:xfrm>
              <a:off x="8718226" y="6300618"/>
              <a:ext cx="3247545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200"/>
                </a:spcAft>
                <a:buClrTx/>
                <a:buSzTx/>
                <a:buFont typeface="Arial" panose="020B0604020202090204" pitchFamily="34" charset="0"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294A5A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百泉聚兴（北京）科技有限公司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ED5A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308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3175"/>
            <a:ext cx="12192000" cy="3995738"/>
          </a:xfrm>
          <a:prstGeom prst="rect">
            <a:avLst/>
          </a:prstGeom>
          <a:solidFill>
            <a:srgbClr val="002060"/>
          </a:solidFill>
          <a:ln w="9525">
            <a:noFill/>
          </a:ln>
        </p:spPr>
      </p:pic>
      <p:sp>
        <p:nvSpPr>
          <p:cNvPr id="11" name="Rectangle 5"/>
          <p:cNvSpPr>
            <a:spLocks noChangeArrowheads="1"/>
          </p:cNvSpPr>
          <p:nvPr userDrawn="1"/>
        </p:nvSpPr>
        <p:spPr bwMode="auto">
          <a:xfrm>
            <a:off x="0" y="3932238"/>
            <a:ext cx="7142163" cy="82550"/>
          </a:xfrm>
          <a:prstGeom prst="rect">
            <a:avLst/>
          </a:prstGeom>
          <a:solidFill>
            <a:srgbClr val="294A5A"/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94A5A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ChangeArrowheads="1"/>
          </p:cNvSpPr>
          <p:nvPr userDrawn="1"/>
        </p:nvSpPr>
        <p:spPr bwMode="auto">
          <a:xfrm>
            <a:off x="7131050" y="3932238"/>
            <a:ext cx="1265238" cy="82550"/>
          </a:xfrm>
          <a:prstGeom prst="rect">
            <a:avLst/>
          </a:prstGeom>
          <a:solidFill>
            <a:srgbClr val="484849"/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94A5A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3" name="Rectangle 7"/>
          <p:cNvSpPr>
            <a:spLocks noChangeArrowheads="1"/>
          </p:cNvSpPr>
          <p:nvPr userDrawn="1"/>
        </p:nvSpPr>
        <p:spPr bwMode="auto">
          <a:xfrm>
            <a:off x="8396288" y="3932238"/>
            <a:ext cx="1265238" cy="82550"/>
          </a:xfrm>
          <a:prstGeom prst="rect">
            <a:avLst/>
          </a:prstGeom>
          <a:solidFill>
            <a:srgbClr val="99CC39"/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94A5A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ChangeArrowheads="1"/>
          </p:cNvSpPr>
          <p:nvPr userDrawn="1"/>
        </p:nvSpPr>
        <p:spPr bwMode="auto">
          <a:xfrm>
            <a:off x="9661525" y="3932238"/>
            <a:ext cx="1265238" cy="82550"/>
          </a:xfrm>
          <a:prstGeom prst="rect">
            <a:avLst/>
          </a:prstGeom>
          <a:solidFill>
            <a:srgbClr val="F9C900"/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94A5A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ChangeArrowheads="1"/>
          </p:cNvSpPr>
          <p:nvPr userDrawn="1"/>
        </p:nvSpPr>
        <p:spPr bwMode="auto">
          <a:xfrm>
            <a:off x="10926763" y="3932238"/>
            <a:ext cx="1265238" cy="82550"/>
          </a:xfrm>
          <a:prstGeom prst="rect">
            <a:avLst/>
          </a:prstGeom>
          <a:solidFill>
            <a:srgbClr val="ED5A00"/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294A5A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01" name="直接连接符 11"/>
          <p:cNvCxnSpPr/>
          <p:nvPr userDrawn="1"/>
        </p:nvCxnSpPr>
        <p:spPr>
          <a:xfrm>
            <a:off x="0" y="1036638"/>
            <a:ext cx="121920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直接连接符 12"/>
          <p:cNvCxnSpPr/>
          <p:nvPr userDrawn="1"/>
        </p:nvCxnSpPr>
        <p:spPr bwMode="auto">
          <a:xfrm>
            <a:off x="0" y="1117600"/>
            <a:ext cx="12192000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045BE44E-26A2-484D-A94E-815608E886A1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AEA57F1E-BF60-4574-A657-3B2B0D3E651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E59FB7DE-3B8D-49EB-9FC1-5AE2837B8A7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4A4EB6FB-B180-4B4F-89D1-D4F3F56A8C4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E59FB7DE-3B8D-49EB-9FC1-5AE2837B8A7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4A4EB6FB-B180-4B4F-89D1-D4F3F56A8C4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E59FB7DE-3B8D-49EB-9FC1-5AE2837B8A7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4A4EB6FB-B180-4B4F-89D1-D4F3F56A8C4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E59FB7DE-3B8D-49EB-9FC1-5AE2837B8A7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4A4EB6FB-B180-4B4F-89D1-D4F3F56A8C4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E59FB7DE-3B8D-49EB-9FC1-5AE2837B8A7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4A4EB6FB-B180-4B4F-89D1-D4F3F56A8C4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E59FB7DE-3B8D-49EB-9FC1-5AE2837B8A7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auto"/>
            <a:fld id="{4A4EB6FB-B180-4B4F-89D1-D4F3F56A8C4C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image" Target="../media/image1.png"/><Relationship Id="rId7" Type="http://schemas.openxmlformats.org/officeDocument/2006/relationships/image" Target="../media/image4.jpeg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6" name="直接连接符 20"/>
          <p:cNvCxnSpPr/>
          <p:nvPr userDrawn="1"/>
        </p:nvCxnSpPr>
        <p:spPr>
          <a:xfrm>
            <a:off x="0" y="1036638"/>
            <a:ext cx="121920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直接连接符 21"/>
          <p:cNvCxnSpPr/>
          <p:nvPr userDrawn="1"/>
        </p:nvCxnSpPr>
        <p:spPr bwMode="auto">
          <a:xfrm>
            <a:off x="0" y="1117600"/>
            <a:ext cx="12192000" cy="0"/>
          </a:xfrm>
          <a:prstGeom prst="lin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8" name="图片 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102850" y="239713"/>
            <a:ext cx="1868488" cy="5334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6"/>
          <p:cNvPicPr>
            <a:picLocks noChangeAspect="1"/>
          </p:cNvPicPr>
          <p:nvPr userDrawn="1"/>
        </p:nvPicPr>
        <p:blipFill>
          <a:blip r:embed="rId7"/>
          <a:srcRect t="13953" b="21162"/>
          <a:stretch>
            <a:fillRect/>
          </a:stretch>
        </p:blipFill>
        <p:spPr>
          <a:xfrm>
            <a:off x="0" y="1989138"/>
            <a:ext cx="12192000" cy="259238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1" name="组合 7"/>
          <p:cNvGrpSpPr/>
          <p:nvPr userDrawn="1"/>
        </p:nvGrpSpPr>
        <p:grpSpPr>
          <a:xfrm>
            <a:off x="7831138" y="6242050"/>
            <a:ext cx="4360862" cy="708025"/>
            <a:chOff x="8278515" y="6300618"/>
            <a:chExt cx="3687256" cy="707886"/>
          </a:xfrm>
        </p:grpSpPr>
        <p:pic>
          <p:nvPicPr>
            <p:cNvPr id="2052" name="图片 8"/>
            <p:cNvPicPr>
              <a:picLocks noChangeAspect="1"/>
            </p:cNvPicPr>
            <p:nvPr/>
          </p:nvPicPr>
          <p:blipFill>
            <a:blip r:embed="rId8"/>
            <a:srcRect l="1196" t="4465" r="69160" b="3108"/>
            <a:stretch>
              <a:fillRect/>
            </a:stretch>
          </p:blipFill>
          <p:spPr>
            <a:xfrm>
              <a:off x="8278515" y="6300618"/>
              <a:ext cx="439711" cy="40011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" name="文本框 9"/>
            <p:cNvSpPr txBox="1"/>
            <p:nvPr/>
          </p:nvSpPr>
          <p:spPr>
            <a:xfrm>
              <a:off x="8718226" y="6300618"/>
              <a:ext cx="3247545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200"/>
                </a:spcAft>
                <a:buClrTx/>
                <a:buSzTx/>
                <a:buFont typeface="Arial" panose="020B0604020202090204" pitchFamily="34" charset="0"/>
                <a:buNone/>
                <a:defRPr/>
              </a:pPr>
              <a:r>
                <a:rPr kumimoji="0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294A5A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百泉聚兴（北京）科技有限公司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ED5A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8" Type="http://schemas.openxmlformats.org/officeDocument/2006/relationships/notesSlide" Target="../notesSlides/notesSlide4.xml"/><Relationship Id="rId37" Type="http://schemas.openxmlformats.org/officeDocument/2006/relationships/slideLayout" Target="../slideLayouts/slideLayout2.xml"/><Relationship Id="rId36" Type="http://schemas.openxmlformats.org/officeDocument/2006/relationships/image" Target="../media/image17.svg"/><Relationship Id="rId35" Type="http://schemas.openxmlformats.org/officeDocument/2006/relationships/image" Target="../media/image16.png"/><Relationship Id="rId34" Type="http://schemas.openxmlformats.org/officeDocument/2006/relationships/image" Target="../media/image15.svg"/><Relationship Id="rId33" Type="http://schemas.openxmlformats.org/officeDocument/2006/relationships/image" Target="../media/image14.png"/><Relationship Id="rId32" Type="http://schemas.openxmlformats.org/officeDocument/2006/relationships/image" Target="../media/image13.svg"/><Relationship Id="rId31" Type="http://schemas.openxmlformats.org/officeDocument/2006/relationships/image" Target="../media/image12.png"/><Relationship Id="rId30" Type="http://schemas.openxmlformats.org/officeDocument/2006/relationships/image" Target="../media/image11.svg"/><Relationship Id="rId3" Type="http://schemas.openxmlformats.org/officeDocument/2006/relationships/tags" Target="../tags/tag14.xml"/><Relationship Id="rId29" Type="http://schemas.openxmlformats.org/officeDocument/2006/relationships/image" Target="../media/image10.png"/><Relationship Id="rId28" Type="http://schemas.openxmlformats.org/officeDocument/2006/relationships/tags" Target="../tags/tag35.xml"/><Relationship Id="rId27" Type="http://schemas.openxmlformats.org/officeDocument/2006/relationships/tags" Target="../tags/tag34.xml"/><Relationship Id="rId26" Type="http://schemas.openxmlformats.org/officeDocument/2006/relationships/tags" Target="../tags/tag33.xml"/><Relationship Id="rId25" Type="http://schemas.openxmlformats.org/officeDocument/2006/relationships/tags" Target="../tags/tag32.xml"/><Relationship Id="rId24" Type="http://schemas.openxmlformats.org/officeDocument/2006/relationships/tags" Target="../tags/tag31.xml"/><Relationship Id="rId23" Type="http://schemas.openxmlformats.org/officeDocument/2006/relationships/image" Target="../media/image9.svg"/><Relationship Id="rId22" Type="http://schemas.openxmlformats.org/officeDocument/2006/relationships/image" Target="../media/image8.png"/><Relationship Id="rId21" Type="http://schemas.openxmlformats.org/officeDocument/2006/relationships/image" Target="../media/image7.svg"/><Relationship Id="rId20" Type="http://schemas.openxmlformats.org/officeDocument/2006/relationships/image" Target="../media/image6.png"/><Relationship Id="rId2" Type="http://schemas.openxmlformats.org/officeDocument/2006/relationships/tags" Target="../tags/tag13.xml"/><Relationship Id="rId19" Type="http://schemas.openxmlformats.org/officeDocument/2006/relationships/tags" Target="../tags/tag30.xml"/><Relationship Id="rId18" Type="http://schemas.openxmlformats.org/officeDocument/2006/relationships/tags" Target="../tags/tag29.xml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文本框 1"/>
          <p:cNvSpPr txBox="1"/>
          <p:nvPr/>
        </p:nvSpPr>
        <p:spPr>
          <a:xfrm>
            <a:off x="990600" y="1679575"/>
            <a:ext cx="10706100" cy="2214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百泉聚兴</a:t>
            </a:r>
            <a:r>
              <a:rPr lang="en-US" altLang="zh-CN" sz="4800" b="1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endParaRPr lang="en-US" altLang="zh-CN" sz="4800" b="1" dirty="0">
              <a:solidFill>
                <a:srgbClr val="FFFF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sz="44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烟碱和</a:t>
            </a:r>
            <a:r>
              <a:rPr lang="zh-CN" sz="44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水分检测</a:t>
            </a:r>
            <a:r>
              <a:rPr lang="zh-CN" sz="44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</a:t>
            </a:r>
            <a:r>
              <a:rPr lang="zh-CN" sz="4400" b="1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方案</a:t>
            </a:r>
            <a:endParaRPr lang="zh-CN" sz="4400" b="1" dirty="0" err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22530" name="文本框 3"/>
          <p:cNvSpPr txBox="1"/>
          <p:nvPr/>
        </p:nvSpPr>
        <p:spPr>
          <a:xfrm>
            <a:off x="990600" y="4130675"/>
            <a:ext cx="61055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From Technology To Engineering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4"/>
          <p:cNvSpPr txBox="1"/>
          <p:nvPr/>
        </p:nvSpPr>
        <p:spPr>
          <a:xfrm>
            <a:off x="455613" y="3095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Songti SC Bold" panose="02010800040101010101" charset="-122"/>
                <a:ea typeface="Songti SC Bold" panose="02010800040101010101" charset="-122"/>
                <a:sym typeface="+mn-lt"/>
              </a:rPr>
              <a:t>方案内容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Songti SC Bold" panose="02010800040101010101" charset="-122"/>
              <a:ea typeface="Songti SC Bold" panose="02010800040101010101" charset="-122"/>
              <a:sym typeface="+mn-lt"/>
            </a:endParaRPr>
          </a:p>
        </p:txBody>
      </p:sp>
      <p:sp>
        <p:nvSpPr>
          <p:cNvPr id="5" name="对象11"/>
          <p:cNvSpPr/>
          <p:nvPr>
            <p:custDataLst>
              <p:tags r:id="rId1"/>
            </p:custDataLst>
          </p:nvPr>
        </p:nvSpPr>
        <p:spPr>
          <a:xfrm>
            <a:off x="1563688" y="1413193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1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/>
                </a:solidFill>
                <a:latin typeface="Songti SC Regular" panose="02010800040101010101" charset="-122"/>
                <a:ea typeface="Songti SC Regular" panose="02010800040101010101" charset="-122"/>
                <a:cs typeface="+mn-ea"/>
                <a:sym typeface="+mn-ea"/>
              </a:rPr>
              <a:t>01</a:t>
            </a:r>
            <a:endParaRPr lang="en-US" altLang="zh-CN" sz="2400">
              <a:solidFill>
                <a:schemeClr val="lt1"/>
              </a:solidFill>
              <a:latin typeface="Songti SC Regular" panose="02010800040101010101" charset="-122"/>
              <a:ea typeface="Songti SC Regular" panose="02010800040101010101" charset="-122"/>
              <a:cs typeface="+mn-ea"/>
              <a:sym typeface="+mn-ea"/>
            </a:endParaRPr>
          </a:p>
        </p:txBody>
      </p:sp>
      <p:sp>
        <p:nvSpPr>
          <p:cNvPr id="9" name="对象12"/>
          <p:cNvSpPr/>
          <p:nvPr>
            <p:custDataLst>
              <p:tags r:id="rId2"/>
            </p:custDataLst>
          </p:nvPr>
        </p:nvSpPr>
        <p:spPr>
          <a:xfrm>
            <a:off x="1563688" y="3198813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1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/>
                </a:solidFill>
                <a:latin typeface="Songti SC Regular" panose="02010800040101010101" charset="-122"/>
                <a:ea typeface="Songti SC Regular" panose="02010800040101010101" charset="-122"/>
                <a:cs typeface="+mn-ea"/>
                <a:sym typeface="+mn-ea"/>
              </a:rPr>
              <a:t>03</a:t>
            </a:r>
            <a:endParaRPr lang="en-US" altLang="zh-CN" sz="2400">
              <a:solidFill>
                <a:schemeClr val="lt1"/>
              </a:solidFill>
              <a:latin typeface="Songti SC Regular" panose="02010800040101010101" charset="-122"/>
              <a:ea typeface="Songti SC Regular" panose="02010800040101010101" charset="-122"/>
              <a:cs typeface="+mn-ea"/>
              <a:sym typeface="+mn-ea"/>
            </a:endParaRPr>
          </a:p>
        </p:txBody>
      </p:sp>
      <p:sp>
        <p:nvSpPr>
          <p:cNvPr id="21" name="对象13"/>
          <p:cNvSpPr/>
          <p:nvPr>
            <p:custDataLst>
              <p:tags r:id="rId3"/>
            </p:custDataLst>
          </p:nvPr>
        </p:nvSpPr>
        <p:spPr>
          <a:xfrm>
            <a:off x="1563688" y="2258378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2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/>
                </a:solidFill>
                <a:latin typeface="Songti SC Regular" panose="02010800040101010101" charset="-122"/>
                <a:ea typeface="Songti SC Regular" panose="02010800040101010101" charset="-122"/>
                <a:cs typeface="+mn-ea"/>
                <a:sym typeface="+mn-ea"/>
              </a:rPr>
              <a:t>02</a:t>
            </a:r>
            <a:endParaRPr lang="en-US" altLang="zh-CN" sz="2400">
              <a:solidFill>
                <a:schemeClr val="lt1"/>
              </a:solidFill>
              <a:latin typeface="Songti SC Regular" panose="02010800040101010101" charset="-122"/>
              <a:ea typeface="Songti SC Regular" panose="02010800040101010101" charset="-122"/>
              <a:cs typeface="+mn-ea"/>
              <a:sym typeface="+mn-ea"/>
            </a:endParaRPr>
          </a:p>
        </p:txBody>
      </p:sp>
      <p:sp>
        <p:nvSpPr>
          <p:cNvPr id="10" name="对象14"/>
          <p:cNvSpPr/>
          <p:nvPr>
            <p:custDataLst>
              <p:tags r:id="rId4"/>
            </p:custDataLst>
          </p:nvPr>
        </p:nvSpPr>
        <p:spPr>
          <a:xfrm flipH="1">
            <a:off x="1563688" y="4085908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2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/>
                </a:solidFill>
                <a:latin typeface="Songti SC Regular" panose="02010800040101010101" charset="-122"/>
                <a:ea typeface="Songti SC Regular" panose="02010800040101010101" charset="-122"/>
                <a:cs typeface="+mn-ea"/>
                <a:sym typeface="+mn-ea"/>
              </a:rPr>
              <a:t>04</a:t>
            </a:r>
            <a:endParaRPr lang="en-US" altLang="zh-CN" sz="2400">
              <a:solidFill>
                <a:schemeClr val="lt1"/>
              </a:solidFill>
              <a:latin typeface="Songti SC Regular" panose="02010800040101010101" charset="-122"/>
              <a:ea typeface="Songti SC Regular" panose="02010800040101010101" charset="-122"/>
              <a:cs typeface="+mn-ea"/>
              <a:sym typeface="+mn-ea"/>
            </a:endParaRPr>
          </a:p>
        </p:txBody>
      </p:sp>
      <p:sp>
        <p:nvSpPr>
          <p:cNvPr id="12" name="对象16"/>
          <p:cNvSpPr/>
          <p:nvPr>
            <p:custDataLst>
              <p:tags r:id="rId5"/>
            </p:custDataLst>
          </p:nvPr>
        </p:nvSpPr>
        <p:spPr>
          <a:xfrm flipH="1">
            <a:off x="1564005" y="4988560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1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/>
                </a:solidFill>
                <a:latin typeface="Songti SC Regular" panose="02010800040101010101" charset="-122"/>
                <a:ea typeface="Songti SC Regular" panose="02010800040101010101" charset="-122"/>
                <a:cs typeface="+mn-ea"/>
                <a:sym typeface="+mn-ea"/>
              </a:rPr>
              <a:t>05</a:t>
            </a:r>
            <a:endParaRPr lang="en-US" altLang="zh-CN" sz="2400">
              <a:solidFill>
                <a:schemeClr val="lt1"/>
              </a:solidFill>
              <a:latin typeface="Songti SC Regular" panose="02010800040101010101" charset="-122"/>
              <a:ea typeface="Songti SC Regular" panose="02010800040101010101" charset="-122"/>
              <a:cs typeface="+mn-ea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763520" y="1576070"/>
            <a:ext cx="44983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latin typeface="Songti SC Regular" panose="02010800040101010101" charset="-122"/>
                <a:ea typeface="Songti SC Regular" panose="02010800040101010101" charset="-122"/>
                <a:cs typeface="Songti SC Regular" panose="02010800040101010101" charset="-122"/>
              </a:rPr>
              <a:t>自动化需求和范围</a:t>
            </a:r>
            <a:r>
              <a:rPr lang="en-US" altLang="zh-CN" sz="2400">
                <a:solidFill>
                  <a:schemeClr val="accent1"/>
                </a:solidFill>
                <a:latin typeface="Songti SC Regular" panose="02010800040101010101" charset="-122"/>
                <a:ea typeface="Songti SC Regular" panose="02010800040101010101" charset="-122"/>
                <a:cs typeface="Songti SC Regular" panose="02010800040101010101" charset="-122"/>
              </a:rPr>
              <a:t> </a:t>
            </a:r>
            <a:endParaRPr lang="zh-CN" altLang="en-US" sz="2400">
              <a:solidFill>
                <a:schemeClr val="accent1"/>
              </a:solidFill>
              <a:latin typeface="Songti SC Regular" panose="02010800040101010101" charset="-122"/>
              <a:ea typeface="Songti SC Regular" panose="02010800040101010101" charset="-122"/>
              <a:cs typeface="Songti SC Regular" panose="02010800040101010101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763520" y="330073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latin typeface="Songti SC Regular" panose="02010800040101010101" charset="-122"/>
                <a:ea typeface="Songti SC Regular" panose="02010800040101010101" charset="-122"/>
                <a:cs typeface="Songti SC Regular" panose="02010800040101010101" charset="-122"/>
                <a:sym typeface="+mn-ea"/>
              </a:rPr>
              <a:t>烟碱和</a:t>
            </a:r>
            <a:r>
              <a:rPr lang="zh-CN" altLang="en-US" sz="2400">
                <a:solidFill>
                  <a:schemeClr val="accent1"/>
                </a:solidFill>
                <a:latin typeface="Songti SC Regular" panose="02010800040101010101" charset="-122"/>
                <a:ea typeface="Songti SC Regular" panose="02010800040101010101" charset="-122"/>
                <a:cs typeface="Songti SC Regular" panose="02010800040101010101" charset="-122"/>
                <a:sym typeface="+mn-ea"/>
              </a:rPr>
              <a:t>水分检测自动化方案</a:t>
            </a:r>
            <a:endParaRPr lang="zh-CN" altLang="en-US" sz="2400">
              <a:solidFill>
                <a:schemeClr val="accent1"/>
              </a:solidFill>
              <a:latin typeface="Songti SC Regular" panose="02010800040101010101" charset="-122"/>
              <a:ea typeface="Songti SC Regular" panose="02010800040101010101" charset="-122"/>
              <a:cs typeface="Songti SC Regular" panose="02010800040101010101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7"/>
            </p:custDataLst>
          </p:nvPr>
        </p:nvSpPr>
        <p:spPr>
          <a:xfrm>
            <a:off x="2763520" y="4184015"/>
            <a:ext cx="44983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latin typeface="Songti SC Regular" panose="02010800040101010101" charset="-122"/>
                <a:ea typeface="Songti SC Regular" panose="02010800040101010101" charset="-122"/>
                <a:cs typeface="Songti SC Regular" panose="02010800040101010101" charset="-122"/>
              </a:rPr>
              <a:t>自动化通量</a:t>
            </a:r>
            <a:r>
              <a:rPr lang="zh-CN" altLang="en-US" sz="2400">
                <a:solidFill>
                  <a:schemeClr val="accent1"/>
                </a:solidFill>
                <a:latin typeface="Songti SC Regular" panose="02010800040101010101" charset="-122"/>
                <a:ea typeface="Songti SC Regular" panose="02010800040101010101" charset="-122"/>
                <a:cs typeface="Songti SC Regular" panose="02010800040101010101" charset="-122"/>
              </a:rPr>
              <a:t>和效率</a:t>
            </a:r>
            <a:r>
              <a:rPr lang="zh-CN" altLang="en-US" sz="2400">
                <a:solidFill>
                  <a:schemeClr val="accent1"/>
                </a:solidFill>
                <a:latin typeface="Songti SC Regular" panose="02010800040101010101" charset="-122"/>
                <a:ea typeface="Songti SC Regular" panose="02010800040101010101" charset="-122"/>
                <a:cs typeface="Songti SC Regular" panose="02010800040101010101" charset="-122"/>
              </a:rPr>
              <a:t>估算</a:t>
            </a:r>
            <a:endParaRPr lang="zh-CN" altLang="en-US" sz="2400">
              <a:solidFill>
                <a:schemeClr val="accent1"/>
              </a:solidFill>
              <a:latin typeface="Songti SC Regular" panose="02010800040101010101" charset="-122"/>
              <a:ea typeface="Songti SC Regular" panose="02010800040101010101" charset="-122"/>
              <a:cs typeface="Songti SC Regular" panose="0201080004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2763520" y="506349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latin typeface="Songti SC Regular" panose="02010800040101010101" charset="-122"/>
                <a:ea typeface="Songti SC Regular" panose="02010800040101010101" charset="-122"/>
                <a:cs typeface="Songti SC Regular" panose="02010800040101010101" charset="-122"/>
                <a:sym typeface="+mn-ea"/>
              </a:rPr>
              <a:t>场地和电气需求</a:t>
            </a:r>
            <a:endParaRPr lang="zh-CN" altLang="en-US" sz="2400">
              <a:solidFill>
                <a:schemeClr val="accent1"/>
              </a:solidFill>
              <a:latin typeface="Songti SC Regular" panose="02010800040101010101" charset="-122"/>
              <a:ea typeface="Songti SC Regular" panose="02010800040101010101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9"/>
            </p:custDataLst>
          </p:nvPr>
        </p:nvSpPr>
        <p:spPr>
          <a:xfrm>
            <a:off x="2763520" y="2369820"/>
            <a:ext cx="44983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latin typeface="Songti SC Regular" panose="02010800040101010101" charset="-122"/>
                <a:ea typeface="Songti SC Regular" panose="02010800040101010101" charset="-122"/>
                <a:cs typeface="Songti SC Regular" panose="02010800040101010101" charset="-122"/>
                <a:sym typeface="+mn-ea"/>
              </a:rPr>
              <a:t>检测自动化建设思路</a:t>
            </a:r>
            <a:r>
              <a:rPr lang="en-US" altLang="zh-CN" sz="2400">
                <a:solidFill>
                  <a:schemeClr val="accent1"/>
                </a:solidFill>
                <a:latin typeface="Songti SC Regular" panose="02010800040101010101" charset="-122"/>
                <a:ea typeface="Songti SC Regular" panose="02010800040101010101" charset="-122"/>
                <a:cs typeface="Songti SC Regular" panose="02010800040101010101" charset="-122"/>
              </a:rPr>
              <a:t> </a:t>
            </a:r>
            <a:endParaRPr lang="zh-CN" altLang="en-US" sz="2400">
              <a:solidFill>
                <a:schemeClr val="accent1"/>
              </a:solidFill>
              <a:latin typeface="Songti SC Regular" panose="02010800040101010101" charset="-122"/>
              <a:ea typeface="Songti SC Regular" panose="02010800040101010101" charset="-122"/>
              <a:cs typeface="Songti SC Regular" panose="02010800040101010101" charset="-122"/>
            </a:endParaRPr>
          </a:p>
        </p:txBody>
      </p:sp>
      <p:sp>
        <p:nvSpPr>
          <p:cNvPr id="3" name="对象14"/>
          <p:cNvSpPr/>
          <p:nvPr>
            <p:custDataLst>
              <p:tags r:id="rId10"/>
            </p:custDataLst>
          </p:nvPr>
        </p:nvSpPr>
        <p:spPr>
          <a:xfrm flipH="1">
            <a:off x="1563688" y="5890578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2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solidFill>
                  <a:schemeClr val="lt1"/>
                </a:solidFill>
                <a:latin typeface="Songti SC Regular" panose="02010800040101010101" charset="-122"/>
                <a:ea typeface="Songti SC Regular" panose="02010800040101010101" charset="-122"/>
                <a:cs typeface="+mn-ea"/>
                <a:sym typeface="+mn-ea"/>
              </a:rPr>
              <a:t>06</a:t>
            </a:r>
            <a:endParaRPr lang="en-US" altLang="zh-CN" sz="2400">
              <a:solidFill>
                <a:schemeClr val="lt1"/>
              </a:solidFill>
              <a:latin typeface="Songti SC Regular" panose="02010800040101010101" charset="-122"/>
              <a:ea typeface="Songti SC Regular" panose="02010800040101010101" charset="-122"/>
              <a:cs typeface="+mn-ea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1"/>
            </p:custDataLst>
          </p:nvPr>
        </p:nvSpPr>
        <p:spPr>
          <a:xfrm>
            <a:off x="2763520" y="5988685"/>
            <a:ext cx="44983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latin typeface="Songti SC Regular" panose="02010800040101010101" charset="-122"/>
                <a:ea typeface="Songti SC Regular" panose="02010800040101010101" charset="-122"/>
                <a:sym typeface="+mn-ea"/>
              </a:rPr>
              <a:t>自动化方案建设周期</a:t>
            </a:r>
            <a:endParaRPr lang="zh-CN" altLang="en-US" sz="2400">
              <a:solidFill>
                <a:schemeClr val="accent1"/>
              </a:solidFill>
              <a:latin typeface="Songti SC Regular" panose="02010800040101010101" charset="-122"/>
              <a:ea typeface="Songti SC Regular" panose="02010800040101010101" charset="-122"/>
              <a:cs typeface="Songti SC Regular" panose="020108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自动化需求和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范围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86385" y="1524635"/>
            <a:ext cx="1190561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300000"/>
              </a:lnSpc>
              <a:buNone/>
            </a:pPr>
            <a:r>
              <a:rPr lang="zh-CN" sz="18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实现</a:t>
            </a:r>
            <a:r>
              <a:rPr lang="en-US" sz="18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GB/T 23203.1-2013</a:t>
            </a:r>
            <a:r>
              <a:rPr lang="zh-CN" altLang="en-US" sz="18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和</a:t>
            </a:r>
            <a:r>
              <a:rPr lang="en-US" altLang="zh-CN" sz="18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GB/T 23355-2009</a:t>
            </a:r>
            <a:r>
              <a:rPr lang="zh-CN" altLang="en-US" sz="18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中，水分和烟碱检测前处理自动化和自动联机化</a:t>
            </a:r>
            <a:r>
              <a:rPr lang="en-US" altLang="zh-CN" sz="18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GC</a:t>
            </a:r>
            <a:r>
              <a:rPr lang="zh-CN" altLang="en-US" sz="18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检测，联机检测数据审核后同步至现有</a:t>
            </a:r>
            <a:r>
              <a:rPr lang="en-US" altLang="zh-CN" sz="18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LIMS</a:t>
            </a:r>
            <a:r>
              <a:rPr lang="zh-CN" altLang="en-US" sz="18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系统。前处理通量不低于</a:t>
            </a:r>
            <a:r>
              <a:rPr lang="en-US" altLang="zh-CN" sz="18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20</a:t>
            </a:r>
            <a:r>
              <a:rPr lang="zh-CN" altLang="en-US" sz="18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个</a:t>
            </a:r>
            <a:r>
              <a:rPr lang="en-US" altLang="zh-CN" sz="18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/</a:t>
            </a:r>
            <a:r>
              <a:rPr lang="zh-CN" altLang="en-US" sz="18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批。</a:t>
            </a:r>
            <a:endParaRPr lang="zh-CN" altLang="en-US" sz="1800" b="1">
              <a:solidFill>
                <a:schemeClr val="accent5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86175"/>
            <a:ext cx="12192000" cy="12934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6062980" y="2504440"/>
            <a:ext cx="3631565" cy="30435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检测自动化建设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思路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cxnSp>
        <p:nvCxnSpPr>
          <p:cNvPr id="41" name="直接连接符 40"/>
          <p:cNvCxnSpPr/>
          <p:nvPr>
            <p:custDataLst>
              <p:tags r:id="rId1"/>
            </p:custDataLst>
          </p:nvPr>
        </p:nvCxnSpPr>
        <p:spPr>
          <a:xfrm>
            <a:off x="4333240" y="2517775"/>
            <a:ext cx="0" cy="384619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>
            <p:custDataLst>
              <p:tags r:id="rId2"/>
            </p:custDataLst>
          </p:nvPr>
        </p:nvCxnSpPr>
        <p:spPr>
          <a:xfrm>
            <a:off x="6085840" y="2527300"/>
            <a:ext cx="0" cy="387794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>
            <p:custDataLst>
              <p:tags r:id="rId3"/>
            </p:custDataLst>
          </p:nvPr>
        </p:nvCxnSpPr>
        <p:spPr>
          <a:xfrm>
            <a:off x="7838440" y="2527300"/>
            <a:ext cx="0" cy="390906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正文"/>
          <p:cNvSpPr txBox="1"/>
          <p:nvPr>
            <p:custDataLst>
              <p:tags r:id="rId4"/>
            </p:custDataLst>
          </p:nvPr>
        </p:nvSpPr>
        <p:spPr>
          <a:xfrm>
            <a:off x="857250" y="2983865"/>
            <a:ext cx="1640205" cy="38461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终端输入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采样信息（名称、检项、时间、地点、取样时间、取样人等）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打印样品标签（自动赋码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/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从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lIMS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下载）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</p:txBody>
      </p:sp>
      <p:sp>
        <p:nvSpPr>
          <p:cNvPr id="49" name="标题"/>
          <p:cNvSpPr txBox="1"/>
          <p:nvPr>
            <p:custDataLst>
              <p:tags r:id="rId5"/>
            </p:custDataLst>
          </p:nvPr>
        </p:nvSpPr>
        <p:spPr>
          <a:xfrm>
            <a:off x="1092200" y="2623820"/>
            <a:ext cx="1315720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zh-CN" altLang="en-US" b="1" dirty="0">
                <a:solidFill>
                  <a:schemeClr val="accent1"/>
                </a:solidFill>
                <a:latin typeface="微软雅黑" panose="020B0503020204020204" charset="-122"/>
              </a:rPr>
              <a:t>取样贴标</a:t>
            </a:r>
            <a:endParaRPr lang="zh-CN" altLang="en-US" b="1" dirty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p:sp>
        <p:nvSpPr>
          <p:cNvPr id="3" name="五边形 2"/>
          <p:cNvSpPr/>
          <p:nvPr>
            <p:custDataLst>
              <p:tags r:id="rId6"/>
            </p:custDataLst>
          </p:nvPr>
        </p:nvSpPr>
        <p:spPr>
          <a:xfrm>
            <a:off x="849630" y="1925320"/>
            <a:ext cx="1746885" cy="337820"/>
          </a:xfrm>
          <a:prstGeom prst="homePlate">
            <a:avLst/>
          </a:prstGeom>
          <a:gradFill>
            <a:gsLst>
              <a:gs pos="28000">
                <a:schemeClr val="accent1"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采样</a:t>
            </a:r>
            <a:r>
              <a:rPr lang="en-US" altLang="zh-CN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/</a:t>
            </a: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抽样</a:t>
            </a:r>
            <a:endParaRPr lang="zh-CN" altLang="en-US" sz="1600" b="1">
              <a:solidFill>
                <a:srgbClr val="FFFFFF">
                  <a:alpha val="55000"/>
                </a:srgbClr>
              </a:solidFill>
              <a:sym typeface="+mn-ea"/>
            </a:endParaRPr>
          </a:p>
        </p:txBody>
      </p:sp>
      <p:sp>
        <p:nvSpPr>
          <p:cNvPr id="53" name="标题"/>
          <p:cNvSpPr txBox="1"/>
          <p:nvPr>
            <p:custDataLst>
              <p:tags r:id="rId7"/>
            </p:custDataLst>
          </p:nvPr>
        </p:nvSpPr>
        <p:spPr>
          <a:xfrm>
            <a:off x="2799080" y="2623820"/>
            <a:ext cx="1315085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</a:rPr>
              <a:t>制样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</a:rPr>
              <a:t>留样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</a:endParaRPr>
          </a:p>
        </p:txBody>
      </p:sp>
      <p:sp>
        <p:nvSpPr>
          <p:cNvPr id="55" name="标题"/>
          <p:cNvSpPr txBox="1"/>
          <p:nvPr>
            <p:custDataLst>
              <p:tags r:id="rId8"/>
            </p:custDataLst>
          </p:nvPr>
        </p:nvSpPr>
        <p:spPr>
          <a:xfrm>
            <a:off x="4551680" y="2623820"/>
            <a:ext cx="1315085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zh-CN" altLang="en-US" b="1" dirty="0">
                <a:solidFill>
                  <a:schemeClr val="accent1"/>
                </a:solidFill>
                <a:latin typeface="微软雅黑" panose="020B0503020204020204" charset="-122"/>
              </a:rPr>
              <a:t>称量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charset="-122"/>
              </a:rPr>
              <a:t>分样</a:t>
            </a:r>
            <a:endParaRPr lang="zh-CN" altLang="en-US" b="1" dirty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p:sp>
        <p:nvSpPr>
          <p:cNvPr id="57" name="标题"/>
          <p:cNvSpPr txBox="1"/>
          <p:nvPr>
            <p:custDataLst>
              <p:tags r:id="rId9"/>
            </p:custDataLst>
          </p:nvPr>
        </p:nvSpPr>
        <p:spPr>
          <a:xfrm>
            <a:off x="6090285" y="2669540"/>
            <a:ext cx="1732280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charset="-122"/>
              </a:rPr>
              <a:t>提取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charset="-122"/>
              </a:rPr>
              <a:t>-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charset="-122"/>
              </a:rPr>
              <a:t>过滤</a:t>
            </a:r>
            <a:endParaRPr lang="zh-CN" altLang="en-US" sz="1600" b="1" dirty="0">
              <a:solidFill>
                <a:schemeClr val="accent2"/>
              </a:solidFill>
              <a:latin typeface="微软雅黑" panose="020B0503020204020204" charset="-122"/>
            </a:endParaRPr>
          </a:p>
        </p:txBody>
      </p:sp>
      <p:sp>
        <p:nvSpPr>
          <p:cNvPr id="4" name="燕尾形 3"/>
          <p:cNvSpPr/>
          <p:nvPr>
            <p:custDataLst>
              <p:tags r:id="rId10"/>
            </p:custDataLst>
          </p:nvPr>
        </p:nvSpPr>
        <p:spPr>
          <a:xfrm>
            <a:off x="2599690" y="1925320"/>
            <a:ext cx="1746250" cy="337820"/>
          </a:xfrm>
          <a:prstGeom prst="chevron">
            <a:avLst/>
          </a:prstGeom>
          <a:gradFill>
            <a:gsLst>
              <a:gs pos="59000">
                <a:schemeClr val="accent2">
                  <a:alpha val="100000"/>
                </a:schemeClr>
              </a:gs>
              <a:gs pos="100000">
                <a:schemeClr val="accent2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收样</a:t>
            </a:r>
            <a:r>
              <a:rPr lang="en-US" altLang="zh-CN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&amp;</a:t>
            </a: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制样</a:t>
            </a:r>
            <a:endParaRPr lang="zh-CN" altLang="en-US" sz="1600" b="1">
              <a:solidFill>
                <a:srgbClr val="FFFFFF">
                  <a:alpha val="55000"/>
                </a:srgbClr>
              </a:solidFill>
              <a:sym typeface="+mn-ea"/>
            </a:endParaRPr>
          </a:p>
        </p:txBody>
      </p:sp>
      <p:sp>
        <p:nvSpPr>
          <p:cNvPr id="9" name="燕尾形 8"/>
          <p:cNvSpPr/>
          <p:nvPr>
            <p:custDataLst>
              <p:tags r:id="rId11"/>
            </p:custDataLst>
          </p:nvPr>
        </p:nvSpPr>
        <p:spPr>
          <a:xfrm>
            <a:off x="4349115" y="1925320"/>
            <a:ext cx="1746250" cy="337820"/>
          </a:xfrm>
          <a:prstGeom prst="chevron">
            <a:avLst/>
          </a:prstGeom>
          <a:gradFill>
            <a:gsLst>
              <a:gs pos="28000">
                <a:schemeClr val="accent1"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称样</a:t>
            </a:r>
            <a:endParaRPr lang="zh-CN" altLang="en-US" sz="1600" b="1">
              <a:solidFill>
                <a:srgbClr val="FFFFFF">
                  <a:alpha val="55000"/>
                </a:srgbClr>
              </a:solidFill>
              <a:sym typeface="+mn-ea"/>
            </a:endParaRPr>
          </a:p>
        </p:txBody>
      </p:sp>
      <p:sp>
        <p:nvSpPr>
          <p:cNvPr id="13" name="燕尾形 12"/>
          <p:cNvSpPr/>
          <p:nvPr>
            <p:custDataLst>
              <p:tags r:id="rId12"/>
            </p:custDataLst>
          </p:nvPr>
        </p:nvSpPr>
        <p:spPr>
          <a:xfrm>
            <a:off x="6098540" y="1925320"/>
            <a:ext cx="1746250" cy="337820"/>
          </a:xfrm>
          <a:prstGeom prst="chevron">
            <a:avLst/>
          </a:prstGeom>
          <a:gradFill>
            <a:gsLst>
              <a:gs pos="59000">
                <a:schemeClr val="accent2">
                  <a:alpha val="100000"/>
                </a:schemeClr>
              </a:gs>
              <a:gs pos="100000">
                <a:schemeClr val="accent2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前处理</a:t>
            </a:r>
            <a:endParaRPr lang="zh-CN" altLang="en-US" sz="1600" b="1">
              <a:solidFill>
                <a:srgbClr val="FFFFFF">
                  <a:alpha val="55000"/>
                </a:srgbClr>
              </a:solidFill>
              <a:sym typeface="+mn-ea"/>
            </a:endParaRPr>
          </a:p>
        </p:txBody>
      </p:sp>
      <p:sp>
        <p:nvSpPr>
          <p:cNvPr id="5" name="燕尾形 4"/>
          <p:cNvSpPr/>
          <p:nvPr>
            <p:custDataLst>
              <p:tags r:id="rId13"/>
            </p:custDataLst>
          </p:nvPr>
        </p:nvSpPr>
        <p:spPr>
          <a:xfrm>
            <a:off x="7847965" y="1925320"/>
            <a:ext cx="1746250" cy="337820"/>
          </a:xfrm>
          <a:prstGeom prst="chevron">
            <a:avLst/>
          </a:prstGeom>
          <a:gradFill>
            <a:gsLst>
              <a:gs pos="28000">
                <a:schemeClr val="accent1">
                  <a:alpha val="100000"/>
                </a:schemeClr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检测</a:t>
            </a:r>
            <a:endParaRPr lang="zh-CN" altLang="en-US" sz="1600" b="1">
              <a:solidFill>
                <a:srgbClr val="FFFFFF">
                  <a:alpha val="55000"/>
                </a:srgbClr>
              </a:solidFill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14"/>
            </p:custDataLst>
          </p:nvPr>
        </p:nvCxnSpPr>
        <p:spPr>
          <a:xfrm>
            <a:off x="9591040" y="2527935"/>
            <a:ext cx="0" cy="394906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标题"/>
          <p:cNvSpPr txBox="1"/>
          <p:nvPr>
            <p:custDataLst>
              <p:tags r:id="rId15"/>
            </p:custDataLst>
          </p:nvPr>
        </p:nvSpPr>
        <p:spPr>
          <a:xfrm>
            <a:off x="8057515" y="2625090"/>
            <a:ext cx="1315085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zh-CN" altLang="en-US" b="1" dirty="0">
                <a:solidFill>
                  <a:schemeClr val="accent1"/>
                </a:solidFill>
                <a:latin typeface="微软雅黑" panose="020B0503020204020204" charset="-122"/>
              </a:rPr>
              <a:t>进样和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charset="-122"/>
              </a:rPr>
              <a:t>检测</a:t>
            </a:r>
            <a:endParaRPr lang="zh-CN" altLang="en-US" b="1" dirty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p:sp>
        <p:nvSpPr>
          <p:cNvPr id="11" name="燕尾形 10"/>
          <p:cNvSpPr/>
          <p:nvPr>
            <p:custDataLst>
              <p:tags r:id="rId16"/>
            </p:custDataLst>
          </p:nvPr>
        </p:nvSpPr>
        <p:spPr>
          <a:xfrm>
            <a:off x="9597390" y="1925320"/>
            <a:ext cx="1746250" cy="337820"/>
          </a:xfrm>
          <a:prstGeom prst="chevron">
            <a:avLst/>
          </a:prstGeom>
          <a:gradFill>
            <a:gsLst>
              <a:gs pos="59000">
                <a:schemeClr val="accent2">
                  <a:alpha val="100000"/>
                </a:schemeClr>
              </a:gs>
              <a:gs pos="100000">
                <a:schemeClr val="accent2">
                  <a:lumMod val="60000"/>
                  <a:lumOff val="40000"/>
                  <a:alpha val="100000"/>
                </a:schemeClr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 b="1">
                <a:solidFill>
                  <a:srgbClr val="FFFFFF">
                    <a:alpha val="55000"/>
                  </a:srgbClr>
                </a:solidFill>
                <a:sym typeface="+mn-ea"/>
              </a:rPr>
              <a:t>报告</a:t>
            </a:r>
            <a:endParaRPr lang="zh-CN" altLang="en-US" sz="1600" b="1">
              <a:solidFill>
                <a:srgbClr val="FFFFFF">
                  <a:alpha val="55000"/>
                </a:srgbClr>
              </a:solidFill>
              <a:sym typeface="+mn-ea"/>
            </a:endParaRPr>
          </a:p>
        </p:txBody>
      </p:sp>
      <p:cxnSp>
        <p:nvCxnSpPr>
          <p:cNvPr id="25" name="直接连接符 24"/>
          <p:cNvCxnSpPr/>
          <p:nvPr>
            <p:custDataLst>
              <p:tags r:id="rId17"/>
            </p:custDataLst>
          </p:nvPr>
        </p:nvCxnSpPr>
        <p:spPr>
          <a:xfrm>
            <a:off x="2580640" y="2517775"/>
            <a:ext cx="0" cy="37846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5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标题"/>
          <p:cNvSpPr txBox="1"/>
          <p:nvPr>
            <p:custDataLst>
              <p:tags r:id="rId18"/>
            </p:custDataLst>
          </p:nvPr>
        </p:nvSpPr>
        <p:spPr>
          <a:xfrm>
            <a:off x="9810750" y="2623820"/>
            <a:ext cx="1315085" cy="30162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p>
            <a:pPr algn="ctr"/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</a:rPr>
              <a:t>数据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</a:rPr>
              <a:t>处理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</a:endParaRPr>
          </a:p>
          <a:p>
            <a:pPr algn="ctr"/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</a:rPr>
              <a:t>生成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</a:rPr>
              <a:t>报告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</a:endParaRPr>
          </a:p>
        </p:txBody>
      </p:sp>
      <p:pic>
        <p:nvPicPr>
          <p:cNvPr id="28" name="图片 27" descr="343439383331313b343532303032373bbfcdbba7b5b5b0b8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319385" y="1346835"/>
            <a:ext cx="302400" cy="302400"/>
          </a:xfrm>
          <a:prstGeom prst="rect">
            <a:avLst/>
          </a:prstGeom>
        </p:spPr>
      </p:pic>
      <p:pic>
        <p:nvPicPr>
          <p:cNvPr id="12" name="图片 11" descr="核酸检测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431530" y="1342390"/>
            <a:ext cx="374650" cy="302895"/>
          </a:xfrm>
          <a:prstGeom prst="rect">
            <a:avLst/>
          </a:prstGeom>
        </p:spPr>
      </p:pic>
      <p:sp>
        <p:nvSpPr>
          <p:cNvPr id="17" name="正文"/>
          <p:cNvSpPr txBox="1"/>
          <p:nvPr>
            <p:custDataLst>
              <p:tags r:id="rId24"/>
            </p:custDataLst>
          </p:nvPr>
        </p:nvSpPr>
        <p:spPr>
          <a:xfrm>
            <a:off x="2632075" y="2977515"/>
            <a:ext cx="1640205" cy="25292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制样，重新贴标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A&amp;B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瓶，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留样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</p:txBody>
      </p:sp>
      <p:sp>
        <p:nvSpPr>
          <p:cNvPr id="18" name="正文"/>
          <p:cNvSpPr txBox="1"/>
          <p:nvPr>
            <p:custDataLst>
              <p:tags r:id="rId25"/>
            </p:custDataLst>
          </p:nvPr>
        </p:nvSpPr>
        <p:spPr>
          <a:xfrm>
            <a:off x="4389755" y="2963545"/>
            <a:ext cx="1640205" cy="25292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按标准要求称量样品至指定试管，重新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赋码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</p:txBody>
      </p:sp>
      <p:sp>
        <p:nvSpPr>
          <p:cNvPr id="19" name="正文"/>
          <p:cNvSpPr txBox="1"/>
          <p:nvPr>
            <p:custDataLst>
              <p:tags r:id="rId26"/>
            </p:custDataLst>
          </p:nvPr>
        </p:nvSpPr>
        <p:spPr>
          <a:xfrm>
            <a:off x="6198870" y="2951480"/>
            <a:ext cx="1640205" cy="25292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预置标准前处理实验方法，实验步骤和仪器参数、实验物料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清单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按前处理实验方法，自动完成所有前处理步骤，记录实验过程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数据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</p:txBody>
      </p:sp>
      <p:sp>
        <p:nvSpPr>
          <p:cNvPr id="20" name="正文"/>
          <p:cNvSpPr txBox="1"/>
          <p:nvPr>
            <p:custDataLst>
              <p:tags r:id="rId27"/>
            </p:custDataLst>
          </p:nvPr>
        </p:nvSpPr>
        <p:spPr>
          <a:xfrm>
            <a:off x="7894955" y="2952115"/>
            <a:ext cx="1640205" cy="25292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自动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将样品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放至自动进样器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/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进样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盘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自动建检测批次和样品序列，启动仪器完成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检测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自动建标曲和数据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处理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</p:txBody>
      </p:sp>
      <p:sp>
        <p:nvSpPr>
          <p:cNvPr id="21" name="正文"/>
          <p:cNvSpPr txBox="1"/>
          <p:nvPr>
            <p:custDataLst>
              <p:tags r:id="rId28"/>
            </p:custDataLst>
          </p:nvPr>
        </p:nvSpPr>
        <p:spPr>
          <a:xfrm>
            <a:off x="9704705" y="2953385"/>
            <a:ext cx="1640205" cy="25292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内嵌标准计算公式，自动完成各检项结果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计算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按样品自动整合所有检项结果，按判定标准自动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按断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algn="l" fontAlgn="auto">
              <a:lnSpc>
                <a:spcPct val="150000"/>
              </a:lnSpc>
              <a:buFont typeface="Wingdings" panose="05000000000000000000" charset="0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按模版生成原始报告和正式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报告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  <a:p>
            <a:pPr marL="171450" indent="-171450" algn="l" fontAlgn="auto">
              <a:lnSpc>
                <a:spcPct val="150000"/>
              </a:lnSpc>
              <a:buFont typeface="Wingdings" panose="05000000000000000000" charset="0"/>
              <a:buChar char="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按审批流程完成报告审批和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charset="0"/>
                <a:ea typeface="仿宋" charset="0"/>
                <a:sym typeface="+mn-ea"/>
              </a:rPr>
              <a:t>签发</a:t>
            </a:r>
            <a:endParaRPr lang="zh-CN" altLang="en-US" sz="12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charset="0"/>
              <a:ea typeface="仿宋" charset="0"/>
              <a:sym typeface="+mn-ea"/>
            </a:endParaRPr>
          </a:p>
        </p:txBody>
      </p:sp>
      <p:pic>
        <p:nvPicPr>
          <p:cNvPr id="23" name="图片 22" descr="食品称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934585" y="1341755"/>
            <a:ext cx="347980" cy="347980"/>
          </a:xfrm>
          <a:prstGeom prst="rect">
            <a:avLst/>
          </a:prstGeom>
        </p:spPr>
      </p:pic>
      <p:pic>
        <p:nvPicPr>
          <p:cNvPr id="24" name="图片 23" descr="搅拌机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285490" y="1357630"/>
            <a:ext cx="374650" cy="374650"/>
          </a:xfrm>
          <a:prstGeom prst="rect">
            <a:avLst/>
          </a:prstGeom>
        </p:spPr>
      </p:pic>
      <p:pic>
        <p:nvPicPr>
          <p:cNvPr id="29" name="图片 28" descr="实验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853555" y="1358265"/>
            <a:ext cx="325755" cy="325755"/>
          </a:xfrm>
          <a:prstGeom prst="rect">
            <a:avLst/>
          </a:prstGeom>
        </p:spPr>
      </p:pic>
      <p:pic>
        <p:nvPicPr>
          <p:cNvPr id="30" name="图片 29" descr="礼物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493520" y="1384300"/>
            <a:ext cx="347980" cy="3479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烟碱和水分检测自动化方案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323590"/>
            <a:ext cx="12192000" cy="31248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5575"/>
            <a:ext cx="12192000" cy="13354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自动化通量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和效率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估算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420" y="2777490"/>
            <a:ext cx="10065024" cy="352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01420" y="1301115"/>
            <a:ext cx="5690870" cy="1476375"/>
          </a:xfrm>
          <a:prstGeom prst="rect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>
            <a:spAutoFit/>
          </a:bodyPr>
          <a:p>
            <a:pPr>
              <a:lnSpc>
                <a:spcPct val="150000"/>
              </a:lnSpc>
              <a:buNone/>
            </a:pPr>
            <a:r>
              <a:rPr lang="zh-CN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一次性处理</a:t>
            </a:r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24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个样品（含空白和质控），</a:t>
            </a:r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4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个一组，分</a:t>
            </a:r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6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组完成。每一组</a:t>
            </a:r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4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个前处理时长</a:t>
            </a:r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50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分钟，</a:t>
            </a:r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6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组</a:t>
            </a:r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24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个样品前处理时长</a:t>
            </a:r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300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分钟，</a:t>
            </a:r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5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个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小时。</a:t>
            </a:r>
            <a:endParaRPr lang="zh-CN" altLang="en-US" sz="2000" b="1">
              <a:solidFill>
                <a:schemeClr val="accent5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自动化方案场地和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电气需求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 flipH="1">
            <a:off x="1296670" y="3030220"/>
            <a:ext cx="2227580" cy="0"/>
          </a:xfrm>
          <a:prstGeom prst="straightConnector1">
            <a:avLst/>
          </a:prstGeom>
          <a:ln w="19050" cap="flat" cmpd="sng">
            <a:solidFill>
              <a:srgbClr val="FF0000"/>
            </a:solidFill>
            <a:prstDash val="solid"/>
            <a:miter lim="800000"/>
            <a:headEnd type="none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4399915" y="3030220"/>
            <a:ext cx="3930650" cy="0"/>
          </a:xfrm>
          <a:prstGeom prst="straightConnector1">
            <a:avLst/>
          </a:prstGeom>
          <a:ln w="19050" cap="flat" cmpd="sng">
            <a:solidFill>
              <a:srgbClr val="FF0000"/>
            </a:solidFill>
            <a:prstDash val="solid"/>
            <a:miter lim="800000"/>
            <a:headEnd type="none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 flipV="1">
            <a:off x="783590" y="3802380"/>
            <a:ext cx="0" cy="890270"/>
          </a:xfrm>
          <a:prstGeom prst="straightConnector1">
            <a:avLst/>
          </a:prstGeom>
          <a:ln w="19050" cap="flat" cmpd="sng">
            <a:solidFill>
              <a:srgbClr val="FF0000"/>
            </a:solidFill>
            <a:prstDash val="solid"/>
            <a:miter lim="800000"/>
            <a:headEnd type="none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826770" y="5475605"/>
            <a:ext cx="0" cy="1160145"/>
          </a:xfrm>
          <a:prstGeom prst="straightConnector1">
            <a:avLst/>
          </a:prstGeom>
          <a:ln w="19050" cap="flat" cmpd="sng">
            <a:solidFill>
              <a:srgbClr val="FF0000"/>
            </a:solidFill>
            <a:prstDash val="solid"/>
            <a:miter lim="800000"/>
            <a:headEnd type="none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3457575" y="2769235"/>
            <a:ext cx="995680" cy="41338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200000"/>
              </a:lnSpc>
            </a:pPr>
            <a:r>
              <a:rPr lang="en-US" sz="1600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2400mm</a:t>
            </a:r>
            <a:endParaRPr lang="en-US" sz="1600" b="1">
              <a:ln>
                <a:noFill/>
              </a:ln>
              <a:solidFill>
                <a:srgbClr val="FF0000"/>
              </a:solidFill>
              <a:latin typeface="仿宋_GB2312" charset="0"/>
              <a:ea typeface="仿宋_GB2312" charset="0"/>
              <a:sym typeface="+mn-ea"/>
            </a:endParaRPr>
          </a:p>
        </p:txBody>
      </p:sp>
      <p:sp>
        <p:nvSpPr>
          <p:cNvPr id="9" name="圆角矩形 8"/>
          <p:cNvSpPr/>
          <p:nvPr/>
        </p:nvSpPr>
        <p:spPr>
          <a:xfrm rot="5400000">
            <a:off x="448310" y="4919345"/>
            <a:ext cx="883920" cy="41338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B05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200000"/>
              </a:lnSpc>
            </a:pPr>
            <a:r>
              <a:rPr lang="en-US" sz="1600" b="1">
                <a:ln>
                  <a:noFill/>
                </a:ln>
                <a:solidFill>
                  <a:srgbClr val="FF0000"/>
                </a:solidFill>
                <a:latin typeface="仿宋_GB2312" charset="0"/>
                <a:ea typeface="仿宋_GB2312" charset="0"/>
                <a:sym typeface="+mn-ea"/>
              </a:rPr>
              <a:t>800mm</a:t>
            </a:r>
            <a:endParaRPr lang="en-US" sz="1600" b="1">
              <a:ln>
                <a:noFill/>
              </a:ln>
              <a:solidFill>
                <a:srgbClr val="FF0000"/>
              </a:solidFill>
              <a:latin typeface="仿宋_GB2312" charset="0"/>
              <a:ea typeface="仿宋_GB2312" charset="0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53720" y="1240155"/>
            <a:ext cx="11360150" cy="1476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  <a:buNone/>
            </a:pPr>
            <a:r>
              <a:rPr lang="zh-CN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桌面式自动化系统包括</a:t>
            </a:r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个平台，长度</a:t>
            </a:r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2400mm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，深度</a:t>
            </a:r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800mm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，高度</a:t>
            </a:r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1200</a:t>
            </a:r>
            <a:r>
              <a:rPr lang="en-US" altLang="zh-CN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mm</a:t>
            </a: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。</a:t>
            </a:r>
            <a:endParaRPr lang="zh-CN" altLang="en-US" sz="2000" b="1">
              <a:solidFill>
                <a:schemeClr val="accent5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电源： 单相3线 220V 50HZ  5KW   </a:t>
            </a:r>
            <a:endParaRPr lang="zh-CN" altLang="en-US" sz="2000" b="1">
              <a:solidFill>
                <a:schemeClr val="accent5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气源： 80L /分钟  实验室用超静音无油空压机</a:t>
            </a:r>
            <a:endParaRPr lang="zh-CN" altLang="en-US" sz="2000" b="1">
              <a:solidFill>
                <a:schemeClr val="accent5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420" y="3188335"/>
            <a:ext cx="10065024" cy="352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54"/>
          <p:cNvSpPr txBox="1"/>
          <p:nvPr/>
        </p:nvSpPr>
        <p:spPr>
          <a:xfrm>
            <a:off x="455613" y="385763"/>
            <a:ext cx="9815512" cy="737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自动化方案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落地建设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lt"/>
              </a:rPr>
              <a:t>周期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-17780" y="1031240"/>
            <a:ext cx="12245975" cy="0"/>
          </a:xfrm>
          <a:prstGeom prst="line">
            <a:avLst/>
          </a:prstGeom>
          <a:ln cap="flat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-15240" y="1122680"/>
            <a:ext cx="12245975" cy="0"/>
          </a:xfrm>
          <a:prstGeom prst="line">
            <a:avLst/>
          </a:prstGeom>
          <a:ln w="47625" cap="flat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27" name="表格 26"/>
          <p:cNvGraphicFramePr/>
          <p:nvPr>
            <p:custDataLst>
              <p:tags r:id="rId1"/>
            </p:custDataLst>
          </p:nvPr>
        </p:nvGraphicFramePr>
        <p:xfrm>
          <a:off x="786765" y="1914525"/>
          <a:ext cx="10100310" cy="4862830"/>
        </p:xfrm>
        <a:graphic>
          <a:graphicData uri="http://schemas.openxmlformats.org/drawingml/2006/table">
            <a:tbl>
              <a:tblPr/>
              <a:tblGrid>
                <a:gridCol w="776605"/>
                <a:gridCol w="1682115"/>
                <a:gridCol w="2292350"/>
                <a:gridCol w="4404360"/>
                <a:gridCol w="944880"/>
              </a:tblGrid>
              <a:tr h="365760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bg1"/>
                          </a:solidFill>
                          <a:latin typeface="微软雅黑"/>
                          <a:ea typeface="微软雅黑"/>
                        </a:rPr>
                        <a:t>序号</a:t>
                      </a:r>
                      <a:endParaRPr lang="zh-CN" altLang="en-US" sz="1000" b="0" i="0">
                        <a:solidFill>
                          <a:schemeClr val="bg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bg1"/>
                          </a:solidFill>
                          <a:latin typeface="微软雅黑"/>
                          <a:ea typeface="微软雅黑"/>
                        </a:rPr>
                        <a:t>建设阶段</a:t>
                      </a:r>
                      <a:endParaRPr lang="zh-CN" altLang="en-US" sz="1000" b="0" i="0">
                        <a:solidFill>
                          <a:schemeClr val="bg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bg1"/>
                          </a:solidFill>
                          <a:latin typeface="微软雅黑"/>
                          <a:ea typeface="微软雅黑"/>
                        </a:rPr>
                        <a:t>建设内容</a:t>
                      </a:r>
                      <a:endParaRPr lang="zh-CN" altLang="en-US" sz="1000" b="0" i="0">
                        <a:solidFill>
                          <a:schemeClr val="bg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chemeClr val="bg1"/>
                          </a:solidFill>
                          <a:latin typeface="微软雅黑"/>
                          <a:ea typeface="微软雅黑"/>
                        </a:rPr>
                        <a:t>周期（</a:t>
                      </a:r>
                      <a:r>
                        <a:rPr lang="zh-CN" altLang="en-US" sz="1000" b="0" i="0">
                          <a:solidFill>
                            <a:schemeClr val="bg1"/>
                          </a:solidFill>
                          <a:latin typeface="微软雅黑"/>
                          <a:ea typeface="微软雅黑"/>
                        </a:rPr>
                        <a:t>天）</a:t>
                      </a:r>
                      <a:endParaRPr lang="zh-CN" altLang="en-US" sz="1000" b="0" i="0">
                        <a:solidFill>
                          <a:schemeClr val="bg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26085">
                <a:tc rowSpan="2"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生产和集成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生产计划审批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系统需求梳理，确认系统方案后统计需生产的自动化模块、搬运机器人、物料托盘、试剂托盘，统计需采购的分析检测仪器和耗材物料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01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模块生产和设备采购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按生产计划完成物料采购和安装测试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60350">
                <a:tc rowSpan="2"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工厂调试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子系统安装和调试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按拆分子系统完成模块集成和调试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4"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9083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全流程系统联调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整合所有子系统，完成全流程系统联调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60985">
                <a:tc rowSpan="2"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出厂前验证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空跑试运行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空动作全流程系统联调连续三天运行稳定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7670">
                <a:tc vMerge="1"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sym typeface="+mn-ea"/>
                        </a:rPr>
                        <a:t>出厂带料跑试运行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  <a:p>
                      <a:pPr algn="ctr" fontAlgn="ctr">
                        <a:buNone/>
                      </a:pP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用水或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有机溶剂取代样品，带料全流程系统联调连续三天运行稳定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47980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设备打包和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物流运输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从工厂拆除设备打包封箱后发往现场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99720">
                <a:tc rowSpan="2"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现场安装和调试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子系统安装和调试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设备到现场后，按子系统完成模块安装和调试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067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全流程调试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整合所有子系统，完成全流程系统联调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69875">
                <a:tc rowSpan="3"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现场试运行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空跑试运行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空动作全流程系统联调连续三天运行稳定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3"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0830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带料跑试运行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用水取代样品和试剂，带料全流程系统联调连续三天运行稳定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2800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系统使用培训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准备培训材料，组织相关用户培训系统使用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54330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系统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验证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用户联合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验证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和用户联合完成在自动化系统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测试标准工作溶液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的回收率和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RSD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值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0040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系统验收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指导用户正常使用自动化系统三天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文本框 27"/>
          <p:cNvSpPr txBox="1"/>
          <p:nvPr/>
        </p:nvSpPr>
        <p:spPr>
          <a:xfrm>
            <a:off x="786765" y="1209675"/>
            <a:ext cx="10100310" cy="6299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核心模块（拔塞加液、振摇、过滤）一月份完成研发，二月份完成样机功能和性能测试。个性化设计一月份完成设计</a:t>
            </a:r>
            <a:r>
              <a:rPr lang="zh-CN" altLang="en-US" sz="14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评审。</a:t>
            </a:r>
            <a:endParaRPr lang="zh-CN" altLang="en-US" sz="1400" b="1">
              <a:solidFill>
                <a:schemeClr val="accent5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启动项目交付，交付过程分八个阶段，交付周期</a:t>
            </a:r>
            <a:r>
              <a:rPr lang="en-US" altLang="zh-CN" sz="14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2</a:t>
            </a:r>
            <a:r>
              <a:rPr lang="zh-CN" altLang="en-US" sz="14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个月</a:t>
            </a:r>
            <a:r>
              <a:rPr lang="zh-CN" altLang="en-US" sz="1400" b="1">
                <a:solidFill>
                  <a:schemeClr val="accent5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内。</a:t>
            </a:r>
            <a:endParaRPr lang="zh-CN" altLang="en-US" sz="1400" b="1">
              <a:solidFill>
                <a:schemeClr val="accent5">
                  <a:lumMod val="50000"/>
                </a:schemeClr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209925" y="1766888"/>
            <a:ext cx="6115050" cy="166211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 fontAlgn="auto"/>
            <a:r>
              <a:rPr lang="zh-CN" altLang="en-US" sz="6600" b="1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百  泉  聚  兴</a:t>
            </a:r>
            <a:endParaRPr lang="en-US" altLang="zh-CN" sz="6600" b="1" noProof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fontAlgn="auto"/>
            <a:r>
              <a:rPr lang="zh-CN" altLang="en-US" sz="3600" b="1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聚科技之势  兴百业之泉</a:t>
            </a:r>
            <a:endParaRPr lang="zh-CN" altLang="en-US" sz="3600" b="1" noProof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1_1"/>
  <p:tag name="KSO_WM_UNIT_ID" val="diagram20231636_5*n_h_h_i*1_2_1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36.7424481201173,&quot;left&quot;:53.17180753452576,&quot;top&quot;:94.21259124996159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3_1"/>
  <p:tag name="KSO_WM_UNIT_ID" val="diagram20231636_5*n_h_h_i*1_2_3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36.7424481201173,&quot;left&quot;:53.17180753452576,&quot;top&quot;:94.21259124996159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2_1"/>
  <p:tag name="KSO_WM_UNIT_ID" val="diagram20231636_5*n_h_h_i*1_2_2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36.7424481201173,&quot;left&quot;:53.17180753452576,&quot;top&quot;:94.21259124996159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4_1"/>
  <p:tag name="KSO_WM_UNIT_ID" val="diagram20231636_5*n_h_h_i*1_2_4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36.7424481201173,&quot;left&quot;:53.17180753452576,&quot;top&quot;:94.21259124996159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5_1"/>
  <p:tag name="KSO_WM_UNIT_ID" val="diagram20231636_5*n_h_h_i*1_2_5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36.7424481201173,&quot;left&quot;:53.17180753452576,&quot;top&quot;:94.21259124996159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5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4_1"/>
  <p:tag name="KSO_WM_UNIT_ID" val="diagram20231636_5*n_h_h_i*1_2_4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436.7424481201173,&quot;left&quot;:53.17180753452576,&quot;top&quot;:94.21259124996159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i*1_1"/>
  <p:tag name="KSO_WM_TEMPLATE_CATEGORY" val="diagram"/>
  <p:tag name="KSO_WM_TEMPLATE_INDEX" val="20235395"/>
  <p:tag name="KSO_WM_UNIT_LAYERLEVEL" val="1_1"/>
  <p:tag name="KSO_WM_TAG_VERSION" val="3.0"/>
  <p:tag name="KSO_WM_BEAUTIFY_FLAG" val="#wm#"/>
  <p:tag name="KSO_WM_UNIT_TYPE" val="m_i"/>
  <p:tag name="KSO_WM_UNIT_INDEX" val="1_1"/>
  <p:tag name="KSO_WM_DIAGRAM_GROUP_CODE" val="m1-1"/>
  <p:tag name="KSO_WM_DIAGRAM_VERSION" val="3"/>
  <p:tag name="KSO_WM_DIAGRAM_COLOR_TRICK" val="2"/>
  <p:tag name="KSO_WM_DIAGRAM_COLOR_TEXT_CAN_REMOVE" val="n"/>
  <p:tag name="KSO_WM_UNIT_LINE_FORE_SCHEMECOLOR_INDEX" val="1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i*1_2"/>
  <p:tag name="KSO_WM_TEMPLATE_CATEGORY" val="diagram"/>
  <p:tag name="KSO_WM_TEMPLATE_INDEX" val="20235395"/>
  <p:tag name="KSO_WM_UNIT_LAYERLEVEL" val="1_1"/>
  <p:tag name="KSO_WM_TAG_VERSION" val="3.0"/>
  <p:tag name="KSO_WM_BEAUTIFY_FLAG" val="#wm#"/>
  <p:tag name="KSO_WM_UNIT_TYPE" val="m_i"/>
  <p:tag name="KSO_WM_UNIT_INDEX" val="1_2"/>
  <p:tag name="KSO_WM_DIAGRAM_GROUP_CODE" val="m1-1"/>
  <p:tag name="KSO_WM_DIAGRAM_VERSION" val="3"/>
  <p:tag name="KSO_WM_DIAGRAM_COLOR_TRICK" val="2"/>
  <p:tag name="KSO_WM_DIAGRAM_COLOR_TEXT_CAN_REMOVE" val="n"/>
  <p:tag name="KSO_WM_UNIT_LINE_FORE_SCHEMECOLOR_INDEX" val="1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i*1_3"/>
  <p:tag name="KSO_WM_TEMPLATE_CATEGORY" val="diagram"/>
  <p:tag name="KSO_WM_TEMPLATE_INDEX" val="20235395"/>
  <p:tag name="KSO_WM_UNIT_LAYERLEVEL" val="1_1"/>
  <p:tag name="KSO_WM_TAG_VERSION" val="3.0"/>
  <p:tag name="KSO_WM_BEAUTIFY_FLAG" val="#wm#"/>
  <p:tag name="KSO_WM_UNIT_TYPE" val="m_i"/>
  <p:tag name="KSO_WM_UNIT_INDEX" val="1_3"/>
  <p:tag name="KSO_WM_DIAGRAM_GROUP_CODE" val="m1-1"/>
  <p:tag name="KSO_WM_DIAGRAM_VERSION" val="3"/>
  <p:tag name="KSO_WM_DIAGRAM_COLOR_TRICK" val="2"/>
  <p:tag name="KSO_WM_DIAGRAM_COLOR_TEXT_CAN_REMOVE" val="n"/>
  <p:tag name="KSO_WM_UNIT_LINE_FORE_SCHEMECOLOR_INDEX" val="1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1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5395_4*m_h_f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1_1"/>
  <p:tag name="KSO_WM_UNIT_ID" val="diagram20235395_4*m_h_a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h_i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SUBTYPE" val="nb"/>
  <p:tag name="KSO_WM_UNIT_TYPE" val="m_h_i"/>
  <p:tag name="KSO_WM_UNIT_INDEX" val="1_1_1"/>
  <p:tag name="KSO_WM_DIAGRAM_GROUP_CODE" val="m1-1"/>
  <p:tag name="KSO_WM_DIAGRAM_VERSION" val="3"/>
  <p:tag name="KSO_WM_DIAGRAM_COLOR_TRICK" val="2"/>
  <p:tag name="KSO_WM_DIAGRAM_COLOR_TEXT_CAN_REMOVE" val="n"/>
  <p:tag name="KSO_WM_UNIT_FILL_TYPE" val="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gradient&quot;:[{&quot;brightness&quot;:0,&quot;colorType&quot;:1,&quot;foreColorIndex&quot;:5,&quot;pos&quot;:0.2800000011920929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2_1"/>
  <p:tag name="KSO_WM_UNIT_ID" val="diagram20235395_4*m_h_a*1_2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3_1"/>
  <p:tag name="KSO_WM_UNIT_ID" val="diagram20235395_4*m_h_a*1_3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4_1"/>
  <p:tag name="KSO_WM_UNIT_ID" val="diagram20235395_4*m_h_a*1_4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h_i*1_2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SUBTYPE" val="nb"/>
  <p:tag name="KSO_WM_UNIT_TYPE" val="m_h_i"/>
  <p:tag name="KSO_WM_UNIT_INDEX" val="1_2_1"/>
  <p:tag name="KSO_WM_DIAGRAM_GROUP_CODE" val="m1-1"/>
  <p:tag name="KSO_WM_DIAGRAM_VERSION" val="3"/>
  <p:tag name="KSO_WM_DIAGRAM_COLOR_TRICK" val="2"/>
  <p:tag name="KSO_WM_DIAGRAM_COLOR_TEXT_CAN_REMOVE" val="n"/>
  <p:tag name="KSO_WM_UNIT_FILL_TYPE" val="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gradient&quot;:[{&quot;brightness&quot;:0,&quot;colorType&quot;:1,&quot;foreColorIndex&quot;:8,&quot;pos&quot;:0.5899999737739563,&quot;transparency&quot;:0},{&quot;brightness&quot;:0.4000000059604645,&quot;colorType&quot;:1,&quot;foreColorIndex&quot;:8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h_i*1_3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SUBTYPE" val="nb"/>
  <p:tag name="KSO_WM_UNIT_TYPE" val="m_h_i"/>
  <p:tag name="KSO_WM_UNIT_INDEX" val="1_3_1"/>
  <p:tag name="KSO_WM_DIAGRAM_GROUP_CODE" val="m1-1"/>
  <p:tag name="KSO_WM_DIAGRAM_VERSION" val="3"/>
  <p:tag name="KSO_WM_DIAGRAM_COLOR_TRICK" val="2"/>
  <p:tag name="KSO_WM_DIAGRAM_COLOR_TEXT_CAN_REMOVE" val="n"/>
  <p:tag name="KSO_WM_UNIT_FILL_TYPE" val="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gradient&quot;:[{&quot;brightness&quot;:0,&quot;colorType&quot;:1,&quot;foreColorIndex&quot;:5,&quot;pos&quot;:0.2800000011920929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h_i*1_4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SUBTYPE" val="nb"/>
  <p:tag name="KSO_WM_UNIT_TYPE" val="m_h_i"/>
  <p:tag name="KSO_WM_UNIT_INDEX" val="1_4_1"/>
  <p:tag name="KSO_WM_DIAGRAM_GROUP_CODE" val="m1-1"/>
  <p:tag name="KSO_WM_DIAGRAM_VERSION" val="3"/>
  <p:tag name="KSO_WM_DIAGRAM_COLOR_TRICK" val="2"/>
  <p:tag name="KSO_WM_DIAGRAM_COLOR_TEXT_CAN_REMOVE" val="n"/>
  <p:tag name="KSO_WM_UNIT_FILL_TYPE" val="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gradient&quot;:[{&quot;brightness&quot;:0,&quot;colorType&quot;:1,&quot;foreColorIndex&quot;:8,&quot;pos&quot;:0.5899999737739563,&quot;transparency&quot;:0},{&quot;brightness&quot;:0.4000000059604645,&quot;colorType&quot;:1,&quot;foreColorIndex&quot;:8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h_i*1_5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SUBTYPE" val="nb"/>
  <p:tag name="KSO_WM_UNIT_TYPE" val="m_h_i"/>
  <p:tag name="KSO_WM_UNIT_INDEX" val="1_5_1"/>
  <p:tag name="KSO_WM_DIAGRAM_GROUP_CODE" val="m1-1"/>
  <p:tag name="KSO_WM_DIAGRAM_VERSION" val="3"/>
  <p:tag name="KSO_WM_DIAGRAM_COLOR_TRICK" val="2"/>
  <p:tag name="KSO_WM_DIAGRAM_COLOR_TEXT_CAN_REMOVE" val="n"/>
  <p:tag name="KSO_WM_UNIT_FILL_TYPE" val="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gradient&quot;:[{&quot;brightness&quot;:0,&quot;colorType&quot;:1,&quot;foreColorIndex&quot;:5,&quot;pos&quot;:0.2800000011920929,&quot;transparency&quot;:0},{&quot;brightness&quot;:0.4000000059604645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i*1_4"/>
  <p:tag name="KSO_WM_TEMPLATE_CATEGORY" val="diagram"/>
  <p:tag name="KSO_WM_TEMPLATE_INDEX" val="20235395"/>
  <p:tag name="KSO_WM_UNIT_LAYERLEVEL" val="1_1"/>
  <p:tag name="KSO_WM_TAG_VERSION" val="3.0"/>
  <p:tag name="KSO_WM_BEAUTIFY_FLAG" val="#wm#"/>
  <p:tag name="KSO_WM_UNIT_TYPE" val="m_i"/>
  <p:tag name="KSO_WM_UNIT_INDEX" val="1_4"/>
  <p:tag name="KSO_WM_DIAGRAM_GROUP_CODE" val="m1-1"/>
  <p:tag name="KSO_WM_DIAGRAM_VERSION" val="3"/>
  <p:tag name="KSO_WM_DIAGRAM_COLOR_TRICK" val="2"/>
  <p:tag name="KSO_WM_DIAGRAM_COLOR_TEXT_CAN_REMOVE" val="n"/>
  <p:tag name="KSO_WM_UNIT_LINE_FORE_SCHEMECOLOR_INDEX" val="1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5_1"/>
  <p:tag name="KSO_WM_UNIT_ID" val="diagram20235395_4*m_h_a*1_5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h_i*1_6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SUBTYPE" val="nb"/>
  <p:tag name="KSO_WM_UNIT_TYPE" val="m_h_i"/>
  <p:tag name="KSO_WM_UNIT_INDEX" val="1_6_1"/>
  <p:tag name="KSO_WM_DIAGRAM_GROUP_CODE" val="m1-1"/>
  <p:tag name="KSO_WM_DIAGRAM_VERSION" val="3"/>
  <p:tag name="KSO_WM_DIAGRAM_COLOR_TRICK" val="2"/>
  <p:tag name="KSO_WM_DIAGRAM_COLOR_TEXT_CAN_REMOVE" val="n"/>
  <p:tag name="KSO_WM_UNIT_FILL_TYPE" val="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gradient&quot;:[{&quot;brightness&quot;:0,&quot;colorType&quot;:1,&quot;foreColorIndex&quot;:8,&quot;pos&quot;:0.5899999737739563,&quot;transparency&quot;:0},{&quot;brightness&quot;:0.4000000059604645,&quot;colorType&quot;:1,&quot;foreColorIndex&quot;:8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.4499999880790710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i*1_5"/>
  <p:tag name="KSO_WM_TEMPLATE_CATEGORY" val="diagram"/>
  <p:tag name="KSO_WM_TEMPLATE_INDEX" val="20235395"/>
  <p:tag name="KSO_WM_UNIT_LAYERLEVEL" val="1_1"/>
  <p:tag name="KSO_WM_TAG_VERSION" val="3.0"/>
  <p:tag name="KSO_WM_BEAUTIFY_FLAG" val="#wm#"/>
  <p:tag name="KSO_WM_UNIT_TYPE" val="m_i"/>
  <p:tag name="KSO_WM_UNIT_INDEX" val="1_5"/>
  <p:tag name="KSO_WM_DIAGRAM_GROUP_CODE" val="m1-1"/>
  <p:tag name="KSO_WM_DIAGRAM_VERSION" val="3"/>
  <p:tag name="KSO_WM_DIAGRAM_COLOR_TRICK" val="2"/>
  <p:tag name="KSO_WM_DIAGRAM_COLOR_TEXT_CAN_REMOVE" val="n"/>
  <p:tag name="KSO_WM_UNIT_LINE_FORE_SCHEMECOLOR_INDEX" val="13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solidLine&quot;:{&quot;brightness&quot;:0.5,&quot;colorType&quot;:1,&quot;foreColorIndex&quot;:13,&quot;transparency&quot;:0.7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m_h_a"/>
  <p:tag name="KSO_WM_UNIT_INDEX" val="1_6_1"/>
  <p:tag name="KSO_WM_UNIT_ID" val="diagram20235395_4*m_h_a*1_6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添加标题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8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395_4*m_h_x*1_6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VALUE" val="84*84"/>
  <p:tag name="KSO_WM_UNIT_TYPE" val="m_h_x"/>
  <p:tag name="KSO_WM_UNIT_INDEX" val="1_6_1"/>
  <p:tag name="KSO_WM_DIAGRAM_GROUP_CODE" val="m1-1"/>
  <p:tag name="KSO_WM_DIAGRAM_VERSION" val="3"/>
  <p:tag name="KSO_WM_DIAGRAM_COLOR_TRICK" val="2"/>
  <p:tag name="KSO_WM_DIAGRAM_COLOR_TEXT_CAN_REMOVE" val="n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gradient&quot;:[{&quot;brightness&quot;:0,&quot;colorType&quot;:1,&quot;foreColorIndex&quot;:8,&quot;pos&quot;:0.2800000011920929,&quot;transparency&quot;:0},{&quot;brightness&quot;:0.4000000059604645,&quot;colorType&quot;:1,&quot;foreColorIndex&quot;:8,&quot;pos&quot;:0.9999899864196777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6,5,6,5,6]}"/>
</p:tagLst>
</file>

<file path=ppt/tags/tag3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5395_4*m_h_f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5395_4*m_h_f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5395_4*m_h_f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5395_4*m_h_f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m_h_f"/>
  <p:tag name="KSO_WM_UNIT_INDEX" val="1_1_1"/>
  <p:tag name="KSO_WM_UNIT_ID" val="diagram20235395_4*m_h_f*1_1_1"/>
  <p:tag name="KSO_WM_TEMPLATE_CATEGORY" val="diagram"/>
  <p:tag name="KSO_WM_TEMPLATE_INDEX" val="20235395"/>
  <p:tag name="KSO_WM_UNIT_LAYERLEVEL" val="1_1_1"/>
  <p:tag name="KSO_WM_TAG_VERSION" val="3.0"/>
  <p:tag name="KSO_WM_BEAUTIFY_FLAG" val="#wm#"/>
  <p:tag name="KSO_WM_UNIT_TEXT_LAYER_COUNT" val="1"/>
  <p:tag name="KSO_WM_DIAGRAM_GROUP_CODE" val="m1-1"/>
  <p:tag name="KSO_WM_DIAGRAM_VERSION" val="3"/>
  <p:tag name="KSO_WM_DIAGRAM_COLOR_TRICK" val="2"/>
  <p:tag name="KSO_WM_DIAGRAM_COLOR_TEXT_CAN_REMOVE" val="n"/>
  <p:tag name="KSO_WM_UNIT_TEXT_TYPE" val="1"/>
  <p:tag name="KSO_WM_UNIT_PRESET_TEXT" val="单击此处输入你的正文文字是您思想的提炼，为了最终演示发布的良好效果，请尽量言简意赅的阐述观点。"/>
  <p:tag name="KSO_WM_UNIT_TEXT_FILL_FORE_SCHEMECOLOR_INDEX" val="1"/>
  <p:tag name="KSO_WM_UNIT_TEXT_FILL_TYPE" val="1"/>
  <p:tag name="KSO_WM_DIAGRAM_MAX_ITEMCNT" val="6"/>
  <p:tag name="KSO_WM_DIAGRAM_MIN_ITEMCNT" val="3"/>
  <p:tag name="KSO_WM_DIAGRAM_VIRTUALLY_FRAME" val="{&quot;height&quot;:432.75,&quot;left&quot;:66.9,&quot;top&quot;:105.05,&quot;width&quot;:826.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6,5,6,5,6]}"/>
</p:tagLst>
</file>

<file path=ppt/tags/tag36.xml><?xml version="1.0" encoding="utf-8"?>
<p:tagLst xmlns:p="http://schemas.openxmlformats.org/presentationml/2006/main">
  <p:tag name="TABLE_ENDDRAG_ORIGIN_RECT" val="716*404"/>
  <p:tag name="TABLE_ENDDRAG_RECT" val="171*101*716*404"/>
</p:tagLst>
</file>

<file path=ppt/tags/tag37.xml><?xml version="1.0" encoding="utf-8"?>
<p:tagLst xmlns:p="http://schemas.openxmlformats.org/presentationml/2006/main">
  <p:tag name="COMMONDATA" val="eyJoZGlkIjoiYjEyM2E4NDFhNWIyMjFlMWE4MTYxZTcxOGRiZjNhMzAifQ=="/>
  <p:tag name="commondata" val="eyJoZGlkIjoiZTZlMTIyNzhhZWEwMWM4YWI4MzYyNmQ0NGM2NjVlNzgifQ=="/>
  <p:tag name="resource_record_key" val="{&quot;70&quot;:[3318479,3318873,3403270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1389</Words>
  <Application>WPS 表格</Application>
  <PresentationFormat>宽屏</PresentationFormat>
  <Paragraphs>266</Paragraphs>
  <Slides>9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31" baseType="lpstr">
      <vt:lpstr>Arial</vt:lpstr>
      <vt:lpstr>宋体</vt:lpstr>
      <vt:lpstr>Wingdings</vt:lpstr>
      <vt:lpstr>等线</vt:lpstr>
      <vt:lpstr>汉仪中等线KW</vt:lpstr>
      <vt:lpstr>微软雅黑</vt:lpstr>
      <vt:lpstr>汉仪旗黑</vt:lpstr>
      <vt:lpstr>Songti SC Bold</vt:lpstr>
      <vt:lpstr>Songti SC Regular</vt:lpstr>
      <vt:lpstr>微软雅黑</vt:lpstr>
      <vt:lpstr>Wingdings</vt:lpstr>
      <vt:lpstr>仿宋</vt:lpstr>
      <vt:lpstr>仿宋_GB2312</vt:lpstr>
      <vt:lpstr>微软雅黑</vt:lpstr>
      <vt:lpstr>宋体</vt:lpstr>
      <vt:lpstr>Arial Unicode MS</vt:lpstr>
      <vt:lpstr>汉仪书宋二KW</vt:lpstr>
      <vt:lpstr>等线 Light</vt:lpstr>
      <vt:lpstr>方正仿宋_GBK</vt:lpstr>
      <vt:lpstr>等线</vt:lpstr>
      <vt:lpstr>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锫 刘</dc:creator>
  <cp:lastModifiedBy>妹丽</cp:lastModifiedBy>
  <cp:revision>307</cp:revision>
  <dcterms:created xsi:type="dcterms:W3CDTF">2026-01-27T02:22:32Z</dcterms:created>
  <dcterms:modified xsi:type="dcterms:W3CDTF">2026-01-27T02:22:32Z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AEB7D3E5BB081E718C0B7869F7E8B00E_43</vt:lpwstr>
  </property>
  <property fmtid="{D5CDD505-2E9C-101B-9397-08002B2CF9AE}" pid="3" name="KSOProductBuildVer">
    <vt:lpwstr>2052-6.12.1.8902</vt:lpwstr>
  </property>
</Properties>
</file>
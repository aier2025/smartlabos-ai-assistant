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746" r:id="rId6"/>
    <p:sldId id="753" r:id="rId7"/>
    <p:sldId id="775" r:id="rId8"/>
    <p:sldId id="776" r:id="rId9"/>
    <p:sldId id="786" r:id="rId10"/>
    <p:sldId id="785" r:id="rId11"/>
    <p:sldId id="782" r:id="rId12"/>
    <p:sldId id="787" r:id="rId13"/>
    <p:sldId id="270" r:id="rId14"/>
    <p:sldId id="784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3" userDrawn="1">
          <p15:clr>
            <a:srgbClr val="A4A3A4"/>
          </p15:clr>
        </p15:guide>
        <p15:guide id="2" pos="2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DF6"/>
    <a:srgbClr val="EFE5AA"/>
    <a:srgbClr val="F0F0F0"/>
    <a:srgbClr val="BAE19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0"/>
    <p:restoredTop sz="93673"/>
  </p:normalViewPr>
  <p:slideViewPr>
    <p:cSldViewPr snapToGrid="0" showGuides="1">
      <p:cViewPr varScale="1">
        <p:scale>
          <a:sx n="101" d="100"/>
          <a:sy n="101" d="100"/>
        </p:scale>
        <p:origin x="208" y="776"/>
      </p:cViewPr>
      <p:guideLst>
        <p:guide orient="horz" pos="1893"/>
        <p:guide pos="2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200" d="100"/>
        <a:sy n="200" d="100"/>
      </p:scale>
      <p:origin x="0" y="-361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5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9700D684-9A9F-4B64-97DA-D4BEFF07EFE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150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0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E5D9236C-C337-4105-B779-A59191212E3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称重超出范围如何处理？</a:t>
            </a:r>
            <a:r>
              <a:rPr lang="en-US" altLang="zh-CN"/>
              <a:t>2. </a:t>
            </a:r>
            <a:r>
              <a:rPr lang="zh-CN" altLang="en-US"/>
              <a:t>药材固体是干燥粉末状？有无特殊</a:t>
            </a:r>
            <a:r>
              <a:rPr lang="zh-CN" altLang="en-US"/>
              <a:t>性状？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建议用</a:t>
            </a:r>
            <a:r>
              <a:rPr lang="en-US" altLang="zh-CN"/>
              <a:t>100ml</a:t>
            </a:r>
            <a:r>
              <a:rPr lang="zh-CN" altLang="en-US"/>
              <a:t>锥形瓶，而不用</a:t>
            </a:r>
            <a:r>
              <a:rPr lang="en-US" altLang="zh-CN"/>
              <a:t>150ml</a:t>
            </a:r>
            <a:r>
              <a:rPr lang="zh-CN" altLang="en-US"/>
              <a:t>，原因：</a:t>
            </a:r>
            <a:r>
              <a:rPr lang="en-US" altLang="zh-CN"/>
              <a:t>1. 100ml</a:t>
            </a:r>
            <a:r>
              <a:rPr lang="zh-CN" altLang="en-US"/>
              <a:t>锥形瓶够用；</a:t>
            </a:r>
            <a:r>
              <a:rPr lang="en-US" altLang="zh-CN"/>
              <a:t>2. 150ml</a:t>
            </a:r>
            <a:r>
              <a:rPr lang="zh-CN" altLang="en-US"/>
              <a:t>锥形瓶较重，</a:t>
            </a:r>
            <a:r>
              <a:rPr lang="en-US" altLang="zh-CN"/>
              <a:t>160-180g</a:t>
            </a:r>
            <a:r>
              <a:rPr lang="zh-CN" altLang="en-US"/>
              <a:t>，离一个万分之一天平的上限较近，不利于长期使用；</a:t>
            </a:r>
            <a:r>
              <a:rPr lang="en-US" altLang="zh-CN"/>
              <a:t>100ml</a:t>
            </a:r>
            <a:r>
              <a:rPr lang="zh-CN" altLang="en-US"/>
              <a:t>锥形瓶</a:t>
            </a:r>
            <a:r>
              <a:rPr lang="en-US" altLang="zh-CN"/>
              <a:t>100-120g</a:t>
            </a:r>
            <a:r>
              <a:rPr lang="zh-CN" altLang="en-US"/>
              <a:t>，比较安全</a:t>
            </a:r>
            <a:r>
              <a:rPr lang="zh-CN" altLang="en-US"/>
              <a:t>稳定。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325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组合 6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3078" name="图片 7"/>
            <p:cNvPicPr>
              <a:picLocks noChangeAspect="1"/>
            </p:cNvPicPr>
            <p:nvPr/>
          </p:nvPicPr>
          <p:blipFill>
            <a:blip r:embed="rId2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08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175"/>
            <a:ext cx="12192000" cy="399573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</p:pic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0" y="3932238"/>
            <a:ext cx="7142163" cy="82550"/>
          </a:xfrm>
          <a:prstGeom prst="rect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7131050" y="3932238"/>
            <a:ext cx="1265238" cy="82550"/>
          </a:xfrm>
          <a:prstGeom prst="rect">
            <a:avLst/>
          </a:prstGeom>
          <a:solidFill>
            <a:srgbClr val="48484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8396288" y="3932238"/>
            <a:ext cx="1265238" cy="82550"/>
          </a:xfrm>
          <a:prstGeom prst="rect">
            <a:avLst/>
          </a:prstGeom>
          <a:solidFill>
            <a:srgbClr val="99CC3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9661525" y="3932238"/>
            <a:ext cx="1265238" cy="82550"/>
          </a:xfrm>
          <a:prstGeom prst="rect">
            <a:avLst/>
          </a:prstGeom>
          <a:solidFill>
            <a:srgbClr val="F9C9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ChangeArrowheads="1"/>
          </p:cNvSpPr>
          <p:nvPr userDrawn="1"/>
        </p:nvSpPr>
        <p:spPr bwMode="auto">
          <a:xfrm>
            <a:off x="10926763" y="3932238"/>
            <a:ext cx="1265238" cy="82550"/>
          </a:xfrm>
          <a:prstGeom prst="rect">
            <a:avLst/>
          </a:prstGeom>
          <a:solidFill>
            <a:srgbClr val="ED5A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1" name="直接连接符 11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1.png"/><Relationship Id="rId7" Type="http://schemas.openxmlformats.org/officeDocument/2006/relationships/image" Target="../media/image4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6" name="直接连接符 20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图片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102850" y="239713"/>
            <a:ext cx="1868488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7"/>
          <a:srcRect t="13953" b="21162"/>
          <a:stretch>
            <a:fillRect/>
          </a:stretch>
        </p:blipFill>
        <p:spPr>
          <a:xfrm>
            <a:off x="0" y="1989138"/>
            <a:ext cx="12192000" cy="25923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7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2052" name="图片 8"/>
            <p:cNvPicPr>
              <a:picLocks noChangeAspect="1"/>
            </p:cNvPicPr>
            <p:nvPr/>
          </p:nvPicPr>
          <p:blipFill>
            <a:blip r:embed="rId8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1"/>
          <p:cNvSpPr txBox="1"/>
          <p:nvPr/>
        </p:nvSpPr>
        <p:spPr>
          <a:xfrm>
            <a:off x="990600" y="1679575"/>
            <a:ext cx="10706100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百泉聚兴</a:t>
            </a:r>
            <a:r>
              <a:rPr lang="en-US" altLang="zh-CN" sz="4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4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中药经典名方质量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分析自动化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方案</a:t>
            </a:r>
            <a:endParaRPr lang="zh-CN" sz="44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22530" name="文本框 3"/>
          <p:cNvSpPr txBox="1"/>
          <p:nvPr/>
        </p:nvSpPr>
        <p:spPr>
          <a:xfrm>
            <a:off x="990600" y="4130675"/>
            <a:ext cx="6105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From Technology To Engineering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方案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结构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7" name="对象6"/>
          <p:cNvSpPr/>
          <p:nvPr>
            <p:custDataLst>
              <p:tags r:id="rId1"/>
            </p:custDataLst>
          </p:nvPr>
        </p:nvSpPr>
        <p:spPr>
          <a:xfrm>
            <a:off x="4227513" y="1937068"/>
            <a:ext cx="3713016" cy="3679176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15000"/>
            </a:schemeClr>
          </a:solidFill>
        </p:spPr>
        <p:txBody>
          <a:bodyPr lIns="0" tIns="0" rIns="0" bIns="0">
            <a:noAutofit/>
          </a:bodyPr>
          <a:p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对象12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635818" y="2353628"/>
            <a:ext cx="2897332" cy="2846634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432000" tIns="0" rIns="432000" bIns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自动化</a:t>
            </a: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方案</a:t>
            </a:r>
            <a:endParaRPr lang="zh-CN" altLang="en-US" sz="27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5" name="对象1"/>
          <p:cNvSpPr/>
          <p:nvPr>
            <p:custDataLst>
              <p:tags r:id="rId3"/>
            </p:custDataLst>
          </p:nvPr>
        </p:nvSpPr>
        <p:spPr>
          <a:xfrm>
            <a:off x="952818" y="1730693"/>
            <a:ext cx="4498848" cy="1271016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0"/>
                </a:moveTo>
                <a:lnTo>
                  <a:pt x="54864" y="0"/>
                </a:lnTo>
                <a:cubicBezTo>
                  <a:pt x="18288" y="0"/>
                  <a:pt x="0" y="18288"/>
                  <a:pt x="0" y="54864"/>
                </a:cubicBezTo>
                <a:lnTo>
                  <a:pt x="0" y="1216152"/>
                </a:lnTo>
                <a:cubicBezTo>
                  <a:pt x="0" y="1243584"/>
                  <a:pt x="18288" y="1271016"/>
                  <a:pt x="54864" y="1271016"/>
                </a:cubicBezTo>
                <a:lnTo>
                  <a:pt x="3447288" y="1271016"/>
                </a:lnTo>
                <a:cubicBezTo>
                  <a:pt x="3465576" y="1271016"/>
                  <a:pt x="3474720" y="1261872"/>
                  <a:pt x="3483864" y="1252728"/>
                </a:cubicBezTo>
                <a:lnTo>
                  <a:pt x="4443984" y="301752"/>
                </a:lnTo>
                <a:cubicBezTo>
                  <a:pt x="4553712" y="192024"/>
                  <a:pt x="4480560" y="0"/>
                  <a:pt x="4315968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1080135" bIns="0" anchor="ctr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自动化需求分析</a:t>
            </a:r>
            <a:endParaRPr lang="zh-CN" altLang="en-US" sz="1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6" name="对象2"/>
          <p:cNvSpPr/>
          <p:nvPr>
            <p:custDataLst>
              <p:tags r:id="rId4"/>
            </p:custDataLst>
          </p:nvPr>
        </p:nvSpPr>
        <p:spPr>
          <a:xfrm>
            <a:off x="675323" y="3130868"/>
            <a:ext cx="3629515" cy="1271270"/>
          </a:xfrm>
          <a:custGeom>
            <a:avLst/>
            <a:gdLst>
              <a:gd name="connsiteX0" fmla="*/ 5860 w 5860"/>
              <a:gd name="connsiteY0" fmla="*/ 29 h 2002"/>
              <a:gd name="connsiteX1" fmla="*/ 5845 w 5860"/>
              <a:gd name="connsiteY1" fmla="*/ 0 h 2002"/>
              <a:gd name="connsiteX2" fmla="*/ 0 w 5860"/>
              <a:gd name="connsiteY2" fmla="*/ 10 h 2002"/>
              <a:gd name="connsiteX3" fmla="*/ 18 w 5860"/>
              <a:gd name="connsiteY3" fmla="*/ 28 h 2002"/>
              <a:gd name="connsiteX4" fmla="*/ 37 w 5860"/>
              <a:gd name="connsiteY4" fmla="*/ 1988 h 2002"/>
              <a:gd name="connsiteX5" fmla="*/ 200 w 5860"/>
              <a:gd name="connsiteY5" fmla="*/ 2002 h 2002"/>
              <a:gd name="connsiteX6" fmla="*/ 5845 w 5860"/>
              <a:gd name="connsiteY6" fmla="*/ 2002 h 2002"/>
              <a:gd name="connsiteX7" fmla="*/ 5860 w 5860"/>
              <a:gd name="connsiteY7" fmla="*/ 1973 h 2002"/>
              <a:gd name="connsiteX8" fmla="*/ 4924 w 5860"/>
              <a:gd name="connsiteY8" fmla="*/ 1008 h 2002"/>
              <a:gd name="connsiteX9" fmla="*/ 4924 w 5860"/>
              <a:gd name="connsiteY9" fmla="*/ 979 h 2002"/>
              <a:gd name="connsiteX10" fmla="*/ 5860 w 5860"/>
              <a:gd name="connsiteY10" fmla="*/ 29 h 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0" h="2002">
                <a:moveTo>
                  <a:pt x="5860" y="29"/>
                </a:moveTo>
                <a:cubicBezTo>
                  <a:pt x="5860" y="14"/>
                  <a:pt x="5860" y="0"/>
                  <a:pt x="5845" y="0"/>
                </a:cubicBezTo>
                <a:lnTo>
                  <a:pt x="0" y="10"/>
                </a:lnTo>
                <a:cubicBezTo>
                  <a:pt x="0" y="10"/>
                  <a:pt x="18" y="28"/>
                  <a:pt x="18" y="28"/>
                </a:cubicBezTo>
                <a:lnTo>
                  <a:pt x="37" y="1988"/>
                </a:lnTo>
                <a:cubicBezTo>
                  <a:pt x="37" y="1988"/>
                  <a:pt x="200" y="2002"/>
                  <a:pt x="200" y="2002"/>
                </a:cubicBezTo>
                <a:lnTo>
                  <a:pt x="5845" y="2002"/>
                </a:lnTo>
                <a:cubicBezTo>
                  <a:pt x="5860" y="2002"/>
                  <a:pt x="5860" y="1973"/>
                  <a:pt x="5860" y="1973"/>
                </a:cubicBezTo>
                <a:lnTo>
                  <a:pt x="4924" y="1008"/>
                </a:lnTo>
                <a:cubicBezTo>
                  <a:pt x="4924" y="1008"/>
                  <a:pt x="4924" y="994"/>
                  <a:pt x="4924" y="979"/>
                </a:cubicBezTo>
                <a:lnTo>
                  <a:pt x="5860" y="29"/>
                </a:lnTo>
              </a:path>
            </a:pathLst>
          </a:custGeom>
          <a:noFill/>
          <a:ln w="12700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1080135" bIns="0" numCol="1" spcCol="0" rtlCol="0" fromWordArt="0" anchor="ctr" anchorCtr="0" forceAA="0" compatLnSpc="1">
            <a:noAutofit/>
          </a:bodyPr>
          <a:p>
            <a:pPr lvl="0" algn="r">
              <a:lnSpc>
                <a:spcPct val="150000"/>
              </a:lnSpc>
              <a:buClrTx/>
              <a:buSzTx/>
              <a:buFontTx/>
            </a:pPr>
            <a:r>
              <a:rPr lang="zh-CN" altLang="en-US" sz="1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检测</a:t>
            </a:r>
            <a:r>
              <a:rPr lang="zh-CN" altLang="en-US" sz="1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自动化建设思路</a:t>
            </a:r>
            <a:endParaRPr lang="zh-CN" altLang="en-US" sz="1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8" name="对象3"/>
          <p:cNvSpPr/>
          <p:nvPr>
            <p:custDataLst>
              <p:tags r:id="rId5"/>
            </p:custDataLst>
          </p:nvPr>
        </p:nvSpPr>
        <p:spPr>
          <a:xfrm>
            <a:off x="941388" y="4531043"/>
            <a:ext cx="4498848" cy="1271016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1271016"/>
                </a:moveTo>
                <a:lnTo>
                  <a:pt x="54864" y="1271016"/>
                </a:lnTo>
                <a:cubicBezTo>
                  <a:pt x="18288" y="1271016"/>
                  <a:pt x="0" y="1243584"/>
                  <a:pt x="0" y="1216152"/>
                </a:cubicBezTo>
                <a:lnTo>
                  <a:pt x="0" y="54864"/>
                </a:lnTo>
                <a:cubicBezTo>
                  <a:pt x="0" y="18288"/>
                  <a:pt x="18288" y="0"/>
                  <a:pt x="54864" y="0"/>
                </a:cubicBezTo>
                <a:lnTo>
                  <a:pt x="3447288" y="0"/>
                </a:lnTo>
                <a:cubicBezTo>
                  <a:pt x="3465576" y="0"/>
                  <a:pt x="3474720" y="9144"/>
                  <a:pt x="3483864" y="18288"/>
                </a:cubicBezTo>
                <a:lnTo>
                  <a:pt x="4443984" y="969264"/>
                </a:lnTo>
                <a:cubicBezTo>
                  <a:pt x="4553712" y="1078992"/>
                  <a:pt x="4480560" y="1271016"/>
                  <a:pt x="4315968" y="1271016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1080000" bIns="0" numCol="1" spcCol="0" rtlCol="0" fromWordArt="0" anchor="ctr" anchorCtr="0" forceAA="0" compatLnSpc="1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方案实现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" name="对象8"/>
          <p:cNvSpPr/>
          <p:nvPr>
            <p:custDataLst>
              <p:tags r:id="rId6"/>
            </p:custDataLst>
          </p:nvPr>
        </p:nvSpPr>
        <p:spPr>
          <a:xfrm flipH="1">
            <a:off x="6761163" y="1734503"/>
            <a:ext cx="4498848" cy="1271016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0"/>
                </a:moveTo>
                <a:lnTo>
                  <a:pt x="54864" y="0"/>
                </a:lnTo>
                <a:cubicBezTo>
                  <a:pt x="18288" y="0"/>
                  <a:pt x="0" y="18288"/>
                  <a:pt x="0" y="54864"/>
                </a:cubicBezTo>
                <a:lnTo>
                  <a:pt x="0" y="1216152"/>
                </a:lnTo>
                <a:cubicBezTo>
                  <a:pt x="0" y="1243584"/>
                  <a:pt x="18288" y="1271016"/>
                  <a:pt x="54864" y="1271016"/>
                </a:cubicBezTo>
                <a:lnTo>
                  <a:pt x="3447288" y="1271016"/>
                </a:lnTo>
                <a:cubicBezTo>
                  <a:pt x="3465576" y="1271016"/>
                  <a:pt x="3474720" y="1261872"/>
                  <a:pt x="3483864" y="1252728"/>
                </a:cubicBezTo>
                <a:lnTo>
                  <a:pt x="4443984" y="301752"/>
                </a:lnTo>
                <a:cubicBezTo>
                  <a:pt x="4553712" y="192024"/>
                  <a:pt x="4480560" y="0"/>
                  <a:pt x="4315968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2">
                    <a:lumMod val="20000"/>
                    <a:lumOff val="80000"/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80135" tIns="0" rIns="0" bIns="0" anchor="ctr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效率测算</a:t>
            </a:r>
            <a:endParaRPr lang="zh-CN" altLang="en-US" sz="1800" b="1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" name="对象9"/>
          <p:cNvSpPr/>
          <p:nvPr>
            <p:custDataLst>
              <p:tags r:id="rId7"/>
            </p:custDataLst>
          </p:nvPr>
        </p:nvSpPr>
        <p:spPr>
          <a:xfrm flipH="1">
            <a:off x="7881938" y="3132773"/>
            <a:ext cx="3636000" cy="1271270"/>
          </a:xfrm>
          <a:custGeom>
            <a:avLst/>
            <a:gdLst>
              <a:gd name="connsiteX0" fmla="*/ 5860 w 5860"/>
              <a:gd name="connsiteY0" fmla="*/ 29 h 2002"/>
              <a:gd name="connsiteX1" fmla="*/ 5845 w 5860"/>
              <a:gd name="connsiteY1" fmla="*/ 0 h 2002"/>
              <a:gd name="connsiteX2" fmla="*/ 0 w 5860"/>
              <a:gd name="connsiteY2" fmla="*/ 10 h 2002"/>
              <a:gd name="connsiteX3" fmla="*/ 18 w 5860"/>
              <a:gd name="connsiteY3" fmla="*/ 28 h 2002"/>
              <a:gd name="connsiteX4" fmla="*/ 37 w 5860"/>
              <a:gd name="connsiteY4" fmla="*/ 1988 h 2002"/>
              <a:gd name="connsiteX5" fmla="*/ 200 w 5860"/>
              <a:gd name="connsiteY5" fmla="*/ 2002 h 2002"/>
              <a:gd name="connsiteX6" fmla="*/ 5845 w 5860"/>
              <a:gd name="connsiteY6" fmla="*/ 2002 h 2002"/>
              <a:gd name="connsiteX7" fmla="*/ 5860 w 5860"/>
              <a:gd name="connsiteY7" fmla="*/ 1973 h 2002"/>
              <a:gd name="connsiteX8" fmla="*/ 4924 w 5860"/>
              <a:gd name="connsiteY8" fmla="*/ 1008 h 2002"/>
              <a:gd name="connsiteX9" fmla="*/ 4924 w 5860"/>
              <a:gd name="connsiteY9" fmla="*/ 979 h 2002"/>
              <a:gd name="connsiteX10" fmla="*/ 5860 w 5860"/>
              <a:gd name="connsiteY10" fmla="*/ 29 h 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0" h="2002">
                <a:moveTo>
                  <a:pt x="5860" y="29"/>
                </a:moveTo>
                <a:cubicBezTo>
                  <a:pt x="5860" y="14"/>
                  <a:pt x="5860" y="0"/>
                  <a:pt x="5845" y="0"/>
                </a:cubicBezTo>
                <a:lnTo>
                  <a:pt x="0" y="10"/>
                </a:lnTo>
                <a:cubicBezTo>
                  <a:pt x="0" y="10"/>
                  <a:pt x="18" y="28"/>
                  <a:pt x="18" y="28"/>
                </a:cubicBezTo>
                <a:lnTo>
                  <a:pt x="37" y="1988"/>
                </a:lnTo>
                <a:cubicBezTo>
                  <a:pt x="37" y="1988"/>
                  <a:pt x="200" y="2002"/>
                  <a:pt x="200" y="2002"/>
                </a:cubicBezTo>
                <a:lnTo>
                  <a:pt x="5845" y="2002"/>
                </a:lnTo>
                <a:cubicBezTo>
                  <a:pt x="5860" y="2002"/>
                  <a:pt x="5860" y="1973"/>
                  <a:pt x="5860" y="1973"/>
                </a:cubicBezTo>
                <a:lnTo>
                  <a:pt x="4924" y="1008"/>
                </a:lnTo>
                <a:cubicBezTo>
                  <a:pt x="4924" y="1008"/>
                  <a:pt x="4924" y="994"/>
                  <a:pt x="4924" y="979"/>
                </a:cubicBezTo>
                <a:lnTo>
                  <a:pt x="5860" y="29"/>
                </a:lnTo>
              </a:path>
            </a:pathLst>
          </a:custGeom>
          <a:noFill/>
          <a:ln w="12700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84000" tIns="0" rIns="0" bIns="0" numCol="1" spcCol="0" rtlCol="0" fromWordArt="0" anchor="ctr" anchorCtr="0" forceAA="0" compatLnSpc="1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场地需求</a:t>
            </a:r>
            <a:endParaRPr lang="zh-CN" altLang="en-US" sz="1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8" name="对象10"/>
          <p:cNvSpPr/>
          <p:nvPr>
            <p:custDataLst>
              <p:tags r:id="rId8"/>
            </p:custDataLst>
          </p:nvPr>
        </p:nvSpPr>
        <p:spPr>
          <a:xfrm flipH="1">
            <a:off x="6763703" y="4531043"/>
            <a:ext cx="4498848" cy="1271016"/>
          </a:xfrm>
          <a:custGeom>
            <a:avLst/>
            <a:gdLst/>
            <a:ahLst/>
            <a:cxnLst/>
            <a:rect l="l" t="t" r="r" b="b"/>
            <a:pathLst>
              <a:path w="4498848" h="1271016">
                <a:moveTo>
                  <a:pt x="4315968" y="1271016"/>
                </a:moveTo>
                <a:lnTo>
                  <a:pt x="54864" y="1271016"/>
                </a:lnTo>
                <a:cubicBezTo>
                  <a:pt x="18288" y="1271016"/>
                  <a:pt x="0" y="1243584"/>
                  <a:pt x="0" y="1216152"/>
                </a:cubicBezTo>
                <a:lnTo>
                  <a:pt x="0" y="54864"/>
                </a:lnTo>
                <a:cubicBezTo>
                  <a:pt x="0" y="18288"/>
                  <a:pt x="18288" y="0"/>
                  <a:pt x="54864" y="0"/>
                </a:cubicBezTo>
                <a:lnTo>
                  <a:pt x="3447288" y="0"/>
                </a:lnTo>
                <a:cubicBezTo>
                  <a:pt x="3465576" y="0"/>
                  <a:pt x="3474720" y="9144"/>
                  <a:pt x="3483864" y="18288"/>
                </a:cubicBezTo>
                <a:lnTo>
                  <a:pt x="4443984" y="969264"/>
                </a:lnTo>
                <a:cubicBezTo>
                  <a:pt x="4553712" y="1078992"/>
                  <a:pt x="4480560" y="1271016"/>
                  <a:pt x="4315968" y="1271016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2">
                    <a:lumMod val="20000"/>
                    <a:lumOff val="80000"/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80135" tIns="0" rIns="0" bIns="0" numCol="1" spcCol="0" rtlCol="0" fromWordArt="0" anchor="ctr" anchorCtr="0" forceAA="0" compatLnSpc="1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建设周期</a:t>
            </a:r>
            <a:endParaRPr lang="zh-CN" altLang="en-US" sz="1800" b="1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" name="对象11"/>
          <p:cNvSpPr/>
          <p:nvPr>
            <p:custDataLst>
              <p:tags r:id="rId9"/>
            </p:custDataLst>
          </p:nvPr>
        </p:nvSpPr>
        <p:spPr>
          <a:xfrm>
            <a:off x="4783773" y="152939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对象12"/>
          <p:cNvSpPr/>
          <p:nvPr>
            <p:custDataLst>
              <p:tags r:id="rId10"/>
            </p:custDataLst>
          </p:nvPr>
        </p:nvSpPr>
        <p:spPr>
          <a:xfrm>
            <a:off x="4754563" y="525748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对象13"/>
          <p:cNvSpPr/>
          <p:nvPr>
            <p:custDataLst>
              <p:tags r:id="rId11"/>
            </p:custDataLst>
          </p:nvPr>
        </p:nvSpPr>
        <p:spPr>
          <a:xfrm>
            <a:off x="3718878" y="340074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对象14"/>
          <p:cNvSpPr/>
          <p:nvPr>
            <p:custDataLst>
              <p:tags r:id="rId12"/>
            </p:custDataLst>
          </p:nvPr>
        </p:nvSpPr>
        <p:spPr>
          <a:xfrm flipH="1">
            <a:off x="6696393" y="153320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2400" b="1">
                <a:latin typeface="+mn-ea"/>
                <a:cs typeface="+mn-ea"/>
                <a:sym typeface="+mn-ea"/>
              </a:rPr>
              <a:t>04</a:t>
            </a:r>
            <a:endParaRPr lang="en-US" altLang="zh-CN" sz="2400" b="1">
              <a:latin typeface="+mn-ea"/>
              <a:cs typeface="+mn-ea"/>
              <a:sym typeface="+mn-ea"/>
            </a:endParaRPr>
          </a:p>
        </p:txBody>
      </p:sp>
      <p:sp>
        <p:nvSpPr>
          <p:cNvPr id="11" name="对象15"/>
          <p:cNvSpPr/>
          <p:nvPr>
            <p:custDataLst>
              <p:tags r:id="rId13"/>
            </p:custDataLst>
          </p:nvPr>
        </p:nvSpPr>
        <p:spPr>
          <a:xfrm flipH="1">
            <a:off x="6716078" y="525748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bg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06</a:t>
            </a:r>
            <a:endParaRPr lang="en-US" altLang="zh-CN" sz="2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对象16"/>
          <p:cNvSpPr/>
          <p:nvPr>
            <p:custDataLst>
              <p:tags r:id="rId14"/>
            </p:custDataLst>
          </p:nvPr>
        </p:nvSpPr>
        <p:spPr>
          <a:xfrm flipH="1">
            <a:off x="7751128" y="342169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05</a:t>
            </a:r>
            <a:endParaRPr lang="en-US" altLang="zh-CN" sz="2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前处理自动化需求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5055" y="1498600"/>
            <a:ext cx="4445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实验流程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重量法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5055" y="2767965"/>
            <a:ext cx="10269855" cy="3335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效率目标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：单日处理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20-30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个样品；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数据质量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）自动化设备平行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份含量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RSD≤2%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40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与人工（按标准</a:t>
            </a:r>
            <a:r>
              <a:rPr lang="en-US" altLang="zh-CN" sz="140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SOP</a:t>
            </a:r>
            <a:r>
              <a:rPr lang="zh-CN" altLang="en-US" sz="140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）比对</a:t>
            </a:r>
            <a:r>
              <a:rPr lang="en-US" altLang="zh-CN" sz="140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RSD≤4%</a:t>
            </a:r>
            <a:r>
              <a:rPr lang="zh-CN" altLang="en-US" sz="140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（均质提取方法，人工无法完成）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数据追溯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：设备应能记录各操作步骤的关键工艺参数，确保全过程具备可追溯性；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轻量设计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：设备各功能模块可根据不同品种检测需求实现灵活组合，同时在整机结构上做到精简减重，兼顾多品种适配与轻量化优势；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可拓展性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：设备预留加压溶剂萃取、挥干、定容等功能模块的安装空间与接口，确保新增模块能够与现有系统顺利衔接运行；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外观设计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：设备造型高端大气，科技感强，具备良好的展示效果；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6460" y="1363345"/>
            <a:ext cx="4816475" cy="1404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239713"/>
            <a:ext cx="9815512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实验流程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510" y="1784985"/>
            <a:ext cx="11396345" cy="3288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自动化设备模块布局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03980" y="1416685"/>
            <a:ext cx="5513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设备尺寸：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3600mm * 850mm * 2050mm (W*D*H)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1778635"/>
            <a:ext cx="11144885" cy="47675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54"/>
          <p:cNvSpPr txBox="1"/>
          <p:nvPr/>
        </p:nvSpPr>
        <p:spPr>
          <a:xfrm>
            <a:off x="455613" y="284798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自动化技术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参数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955290" y="1296670"/>
          <a:ext cx="6281420" cy="5426075"/>
        </p:xfrm>
        <a:graphic>
          <a:graphicData uri="http://schemas.openxmlformats.org/drawingml/2006/table">
            <a:tbl>
              <a:tblPr/>
              <a:tblGrid>
                <a:gridCol w="532765"/>
                <a:gridCol w="1609725"/>
                <a:gridCol w="3328035"/>
                <a:gridCol w="810895"/>
              </a:tblGrid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功能模块名称</a:t>
                      </a:r>
                      <a:endParaRPr 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技术参数</a:t>
                      </a:r>
                      <a:endParaRPr 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6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称重</a:t>
                      </a:r>
                      <a:r>
                        <a:rPr lang="en-US" alt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万分之一天平）</a:t>
                      </a:r>
                      <a:endParaRPr lang="zh-CN" altLang="en-US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量程：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220g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；稳定时间：小于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</a:t>
                      </a: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endParaRPr 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可读性：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0.1mg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重复性：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≤0.1mg;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线性误差：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≤0.2mg;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加液（注射泵加液）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最大加液体积：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5~50mL;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绝对准确度：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±0.5%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；重复性：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≤0.5%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RSD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n=10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液体兼容性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甲醇、乙醇、水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流速范围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~ 35 mL/min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（可调）；管路自清洁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水浴超声提取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超声频率：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40kHz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；超声功率：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0- 200 W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（可调）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水温：室温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-60℃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±1℃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）；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定时范围：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0-60min;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安全保护：自动监测水位并自补水；过热保护，防干烧；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材质：不锈钢内胆（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304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316L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），耐腐蚀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均质提取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转速：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1-20000 rpm;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0.1-10min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刀头自清洗；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78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离心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转速：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1-10000 rpm;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0.1-60min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温度：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0℃-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室温可调；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移液（移液枪移液）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配备枪头：推荐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5ml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准确度：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±1%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重复性：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≤0.5%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RSD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n=10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658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过滤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滤膜材质：亲水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疏水可选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滤膜孔径：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0.45um/0.22um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可选；滤器直径：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13mm/25mm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可选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过滤体积：单次过滤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5.0 mL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系统压力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≥0.35 MPa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时，系统报警提醒压力过载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450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搬运机器人</a:t>
                      </a:r>
                      <a:endParaRPr lang="zh-CN" sz="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操作范围：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可抓取、夹持和放开托盘；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可抓取、夹持和放开进样瓶；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距离定位绝对精度：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±0.5mm</a:t>
                      </a:r>
                      <a:r>
                        <a:rPr lang="zh-CN" altLang="en-US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距离定位重复性精度：</a:t>
                      </a: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±0.5mm</a:t>
                      </a:r>
                      <a:r>
                        <a:rPr lang="zh-CN" sz="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endParaRPr lang="zh-CN" sz="8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extBox 54"/>
          <p:cNvSpPr txBox="1"/>
          <p:nvPr/>
        </p:nvSpPr>
        <p:spPr>
          <a:xfrm>
            <a:off x="574358" y="275908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设计图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1342938683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3378" y="1816100"/>
            <a:ext cx="4958715" cy="3958590"/>
          </a:xfrm>
          <a:prstGeom prst="rect">
            <a:avLst/>
          </a:prstGeom>
          <a:noFill/>
        </p:spPr>
      </p:pic>
      <p:pic>
        <p:nvPicPr>
          <p:cNvPr id="2" name="图片 2" descr="2.44"/>
          <p:cNvPicPr>
            <a:picLocks noChangeAspect="1"/>
          </p:cNvPicPr>
          <p:nvPr/>
        </p:nvPicPr>
        <p:blipFill>
          <a:blip r:embed="rId2"/>
          <a:srcRect l="422" t="34093" r="-12" b="4037"/>
          <a:stretch>
            <a:fillRect/>
          </a:stretch>
        </p:blipFill>
        <p:spPr>
          <a:xfrm>
            <a:off x="95250" y="1495425"/>
            <a:ext cx="6309995" cy="2447290"/>
          </a:xfrm>
          <a:prstGeom prst="rect">
            <a:avLst/>
          </a:prstGeom>
        </p:spPr>
      </p:pic>
      <p:pic>
        <p:nvPicPr>
          <p:cNvPr id="4" name="图片 4" descr="1.43"/>
          <p:cNvPicPr>
            <a:picLocks noChangeAspect="1"/>
          </p:cNvPicPr>
          <p:nvPr/>
        </p:nvPicPr>
        <p:blipFill>
          <a:blip r:embed="rId3"/>
          <a:srcRect l="1772" t="28569" b="5196"/>
          <a:stretch>
            <a:fillRect/>
          </a:stretch>
        </p:blipFill>
        <p:spPr>
          <a:xfrm>
            <a:off x="251460" y="3655060"/>
            <a:ext cx="6153785" cy="2590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extBox 54"/>
          <p:cNvSpPr txBox="1"/>
          <p:nvPr/>
        </p:nvSpPr>
        <p:spPr>
          <a:xfrm>
            <a:off x="574358" y="275908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场地布局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34595579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" y="1270635"/>
            <a:ext cx="2896235" cy="15855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1625" y="3168015"/>
            <a:ext cx="2353945" cy="1967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需确认：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实验室楼层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楼层称重不低于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350kg/m</a:t>
            </a:r>
            <a:r>
              <a:rPr lang="en-US" altLang="zh-CN" sz="12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电梯尺寸（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1400*850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搬运沿途无障碍；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525" y="2126615"/>
            <a:ext cx="859155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extBox 54"/>
          <p:cNvSpPr txBox="1"/>
          <p:nvPr/>
        </p:nvSpPr>
        <p:spPr>
          <a:xfrm>
            <a:off x="574358" y="275908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下一阶段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行动计划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7105" y="1564640"/>
            <a:ext cx="102577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en-US" altLang="zh-CN"/>
              <a:t>1. </a:t>
            </a:r>
            <a:r>
              <a:rPr lang="zh-CN" altLang="en-US"/>
              <a:t>百泉聚兴：在</a:t>
            </a:r>
            <a:r>
              <a:rPr lang="zh-CN" altLang="en-US"/>
              <a:t>工厂测试典型样品（不同性状、粘性）自动化称重的</a:t>
            </a:r>
            <a:r>
              <a:rPr lang="zh-CN" altLang="en-US"/>
              <a:t>准确度；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2. </a:t>
            </a:r>
            <a:r>
              <a:rPr lang="zh-CN" altLang="en-US"/>
              <a:t>金老师</a:t>
            </a:r>
            <a:r>
              <a:rPr lang="en-US" altLang="zh-CN"/>
              <a:t> &amp; </a:t>
            </a:r>
            <a:r>
              <a:rPr lang="zh-CN" altLang="en-US"/>
              <a:t>百泉聚兴：测试均质提取模块的提取效果与效率；（测试方法、范围、</a:t>
            </a:r>
            <a:r>
              <a:rPr lang="zh-CN" altLang="en-US"/>
              <a:t>目标）；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3. </a:t>
            </a:r>
            <a:r>
              <a:rPr lang="zh-CN" altLang="en-US"/>
              <a:t>对软件的需求：是否需要自动上传数据至</a:t>
            </a:r>
            <a:r>
              <a:rPr lang="en-US" altLang="zh-CN"/>
              <a:t>lims</a:t>
            </a:r>
            <a:r>
              <a:rPr lang="zh-CN" altLang="en-US"/>
              <a:t>？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4. </a:t>
            </a:r>
            <a:r>
              <a:rPr lang="zh-CN" altLang="en-US"/>
              <a:t>统一</a:t>
            </a:r>
            <a:r>
              <a:rPr lang="en-US" altLang="zh-CN"/>
              <a:t>125ml PP</a:t>
            </a:r>
            <a:r>
              <a:rPr lang="zh-CN" altLang="en-US"/>
              <a:t>样品瓶</a:t>
            </a:r>
            <a:r>
              <a:rPr lang="zh-CN" altLang="en-US"/>
              <a:t>可否？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5. </a:t>
            </a:r>
            <a:r>
              <a:rPr lang="zh-CN" altLang="en-US"/>
              <a:t>未来</a:t>
            </a:r>
            <a:r>
              <a:rPr lang="en-US" altLang="zh-CN"/>
              <a:t>2</a:t>
            </a:r>
            <a:r>
              <a:rPr lang="zh-CN" altLang="en-US"/>
              <a:t>个样一组，还是</a:t>
            </a:r>
            <a:r>
              <a:rPr lang="en-US" altLang="zh-CN"/>
              <a:t>4</a:t>
            </a:r>
            <a:r>
              <a:rPr lang="zh-CN" altLang="en-US"/>
              <a:t>个样品</a:t>
            </a:r>
            <a:r>
              <a:rPr lang="zh-CN" altLang="en-US"/>
              <a:t>一组？</a:t>
            </a:r>
            <a:endParaRPr lang="zh-CN" altLang="en-US"/>
          </a:p>
          <a:p>
            <a:pPr>
              <a:lnSpc>
                <a:spcPct val="20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9925" y="1766888"/>
            <a:ext cx="6115050" cy="16621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6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百  泉  聚  兴</a:t>
            </a:r>
            <a:endParaRPr lang="en-US" altLang="zh-CN" sz="6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auto"/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聚科技之势  兴百业之泉</a:t>
            </a:r>
            <a:endParaRPr lang="zh-CN" altLang="en-US" sz="3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910" y="1195070"/>
            <a:ext cx="10033635" cy="54889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5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5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5*n_h_h_f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1_1"/>
  <p:tag name="KSO_WM_UNIT_SUBTYPE" val="a"/>
  <p:tag name="KSO_WM_UNIT_NOCLEAR" val="0"/>
  <p:tag name="KSO_WM_UNIT_VALUE" val="80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5*n_h_h_f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2_1"/>
  <p:tag name="KSO_WM_UNIT_SUBTYPE" val="a"/>
  <p:tag name="KSO_WM_UNIT_NOCLEAR" val="0"/>
  <p:tag name="KSO_WM_UNIT_VALUE" val="70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5*n_h_h_f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3_1"/>
  <p:tag name="KSO_WM_UNIT_SUBTYPE" val="a"/>
  <p:tag name="KSO_WM_UNIT_NOCLEAR" val="0"/>
  <p:tag name="KSO_WM_UNIT_VALUE" val="80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5*n_h_h_f*1_2_4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4_1"/>
  <p:tag name="KSO_WM_UNIT_SUBTYPE" val="a"/>
  <p:tag name="KSO_WM_UNIT_NOCLEAR" val="0"/>
  <p:tag name="KSO_WM_UNIT_VALUE" val="80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5*n_h_h_f*1_2_5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5_1"/>
  <p:tag name="KSO_WM_UNIT_SUBTYPE" val="a"/>
  <p:tag name="KSO_WM_UNIT_NOCLEAR" val="0"/>
  <p:tag name="KSO_WM_UNIT_VALUE" val="70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5*n_h_h_f*1_2_6_1"/>
  <p:tag name="KSO_WM_TEMPLATE_CATEGORY" val="diagram"/>
  <p:tag name="KSO_WM_TEMPLATE_INDEX" val="2023163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f"/>
  <p:tag name="KSO_WM_UNIT_INDEX" val="1_2_6_1"/>
  <p:tag name="KSO_WM_UNIT_SUBTYPE" val="a"/>
  <p:tag name="KSO_WM_UNIT_NOCLEAR" val="0"/>
  <p:tag name="KSO_WM_UNIT_VALUE" val="80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5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5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5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1636_5*n_h_h_i*1_2_4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6_1"/>
  <p:tag name="KSO_WM_UNIT_ID" val="diagram20231636_5*n_h_h_i*1_2_6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1"/>
  <p:tag name="KSO_WM_UNIT_ID" val="diagram20231636_5*n_h_h_i*1_2_5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7.36244812011716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COMMONDATA" val="eyJoZGlkIjoiYjEyM2E4NDFhNWIyMjFlMWE4MTYxZTcxOGRiZjNhMzAifQ=="/>
  <p:tag name="commondata" val="eyJoZGlkIjoiZTZlMTIyNzhhZWEwMWM4YWI4MzYyNmQ0NGM2NjVlNzgifQ=="/>
  <p:tag name="resource_record_key" val="{&quot;70&quot;:[3318479,3318873,340327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1308</Words>
  <Application>WPS 演示</Application>
  <PresentationFormat>宽屏</PresentationFormat>
  <Paragraphs>167</Paragraphs>
  <Slides>11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锫 刘</dc:creator>
  <cp:lastModifiedBy>刘锫</cp:lastModifiedBy>
  <cp:revision>317</cp:revision>
  <dcterms:created xsi:type="dcterms:W3CDTF">2025-11-16T17:06:00Z</dcterms:created>
  <dcterms:modified xsi:type="dcterms:W3CDTF">2026-04-10T09:44:26Z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A5DE25C6B5C54172A02F66874FA93B20_13</vt:lpwstr>
  </property>
  <property fmtid="{D5CDD505-2E9C-101B-9397-08002B2CF9AE}" pid="3" name="KSOProductBuildVer">
    <vt:lpwstr>2052-12.1.0.25225</vt:lpwstr>
  </property>
</Properties>
</file>
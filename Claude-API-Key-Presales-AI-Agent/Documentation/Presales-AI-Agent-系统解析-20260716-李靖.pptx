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22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8509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192024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PRESALES PROPOSAL · AI AGENT · CODE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售前提案 AI Agent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 · 处理逻辑 · 实现方法 · 优化路线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868680" y="3611880"/>
            <a:ext cx="2926080" cy="27432"/>
          </a:xfrm>
          <a:prstGeom prst="rect">
            <a:avLst/>
          </a:prstGeom>
          <a:solidFill>
            <a:srgbClr val="1D43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8862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C# 14 · .NET 10 · ASP.NET Core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官方 SDK 直调 Messages API（claude-opus-4-8）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Dapper + MySQL 8 · 原生零依赖前端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5989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0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百泉聚兴（北京）科技有限公司  |  SmartLabOS  |  2026-07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 / 系统定位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把「售前方案编写」变成一条可重复执行的流水线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84687" y="347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A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一名售前工程师原本需要 2–3 天完成的「读国标 → 选模块 → 配平台 → 组工作站 → 写方案 → 出 WORD」，本系统用一次 Claude 驱动的自动化流程在数十分钟内产出可交付初稿，且全部技术参数强制溯源到本地知识库。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261518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103120"/>
            <a:ext cx="68580" cy="160020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21284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41248" y="2889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个模块卡片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31638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references/01-modules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ID 即文件名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92424" y="2103120"/>
            <a:ext cx="261518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92424" y="2103120"/>
            <a:ext cx="68580" cy="160020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66744" y="221284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666744" y="2889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6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阶段生成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66744" y="31638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/ URS →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详细设计方案 Markdown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103120"/>
            <a:ext cx="261518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103120"/>
            <a:ext cx="68580" cy="160020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21284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492240" y="2889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个受控工具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31638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list / read / write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唯一的文件出入口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43416" y="2103120"/>
            <a:ext cx="261518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43416" y="2103120"/>
            <a:ext cx="68580" cy="160020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17736" y="221284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9317736" y="2889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6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项流程国标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17736" y="31638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potocol/MD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前处理流程的唯一事实源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四项核心能力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66928" y="4407408"/>
            <a:ext cx="310896" cy="310896"/>
          </a:xfrm>
          <a:prstGeom prst="ellipse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87552" y="44074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模块选定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66928" y="4773168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结构化输出 + 知识库校验，从 97 个模块中选出最小充分集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92424" y="4407408"/>
            <a:ext cx="310896" cy="310896"/>
          </a:xfrm>
          <a:prstGeom prst="ellipse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92424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813048" y="44074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平台选定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392424" y="4773168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按平台约束（≤6 模组 / ≤8 托盘）匹配平台抽象类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17920" y="4407408"/>
            <a:ext cx="310896" cy="310896"/>
          </a:xfrm>
          <a:prstGeom prst="ellipse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638544" y="44074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工作站组装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217920" y="4773168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模组挂载到平台，按前处理工序串联；平台节拍对齐 600 秒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043416" y="4407408"/>
            <a:ext cx="310896" cy="310896"/>
          </a:xfrm>
          <a:prstGeom prst="ellipse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43416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9464040" y="44074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解决方案书写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9043416" y="4773168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 HTML + 模块 URS + 详细设计方案 + docx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66928" y="5760720"/>
            <a:ext cx="11064240" cy="566928"/>
          </a:xfrm>
          <a:prstGeom prst="rect">
            <a:avLst/>
          </a:prstGeom>
          <a:solidFill>
            <a:srgbClr val="E7E9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6928" y="5760720"/>
            <a:ext cx="68580" cy="566928"/>
          </a:xfrm>
          <a:prstGeom prst="rect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57607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设计红线：</a:t>
            </a:r>
            <a:r>
              <a:rPr lang="en-US" sz="12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参数必须来自 references/ 与 potocol/，严禁编造；价格一律回复「请联系销售团队获取报价」；模型只能通过 3 个受控工具触碰磁盘。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 / 技术选型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 .NET，零前端构建链，机密不入仓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84687" y="347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A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642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353312"/>
            <a:ext cx="68580" cy="694944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53312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后端运行时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41448" y="1353312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 14 / .NET 10 / ASP.NET Core Web API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93408" y="1353312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Controllers + DI + BackgroundService，单进程自托管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157984"/>
            <a:ext cx="110642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2157984"/>
            <a:ext cx="68580" cy="694944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157984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41448" y="2157984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 官方 NuGet 包 12.34.1 · claude-opus-4-8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93408" y="2157984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进程内 HTTPS 直调 Messages API，Effort=high，自适应思考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110642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2962656"/>
            <a:ext cx="68580" cy="694944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962656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数据访问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41448" y="2962656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Dapper 2.1.79 + MySqlConnector 2.6.1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93408" y="2962656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全参数化查询防注入；多值字段以 JSON 列存储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3767328"/>
            <a:ext cx="110642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3767328"/>
            <a:ext cx="68580" cy="694944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767328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41448" y="3767328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8.x · SmartLabOS-Presales-AI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93408" y="3767328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张表：PresalesProject / PresalesGeneration，建表脚本幂等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4572000"/>
            <a:ext cx="110642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6928" y="4572000"/>
            <a:ext cx="68580" cy="694944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57200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文档导出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441448" y="4572000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DocumentFormat.OpenXml 3.5.1 + Pandoc(可选)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93408" y="4572000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→ docx 双路径，自动择优、离线可用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5376672"/>
            <a:ext cx="110642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66928" y="5376672"/>
            <a:ext cx="68580" cy="694944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376672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441448" y="5376672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原生 HTML / CSS / JS（零依赖，与 API 同源）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93408" y="5376672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 npm/构建；静态文件禁缓存，避免加载旧脚本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6928" y="61447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机密治理：appsettings.json 仅存占位符 → 由 dotnet user-secrets 或环境变量 ANTHROPIC_API_KEY / ConnectionStrings__SmartLabOS 覆盖，仓库零机密。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 / 系统架构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五层单体：请求即返回，重活全在后台队列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417320" cy="658368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71600"/>
            <a:ext cx="54864" cy="658368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37160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240280" y="1371600"/>
            <a:ext cx="4114800" cy="658368"/>
          </a:xfrm>
          <a:prstGeom prst="rect">
            <a:avLst/>
          </a:prstGeom>
          <a:solidFill>
            <a:srgbClr val="13303F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4538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wwwroot 原生前端（同源，无 CORS）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313432" y="1700784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 · app.js（主数据维护） · presales.js（售前 + 进度轮询）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0" y="1371600"/>
            <a:ext cx="4325112" cy="658368"/>
          </a:xfrm>
          <a:prstGeom prst="rect">
            <a:avLst/>
          </a:prstGeom>
          <a:solidFill>
            <a:srgbClr val="13303F"/>
          </a:solidFill>
          <a:ln w="12700">
            <a:solidFill>
              <a:srgbClr val="1D43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453896"/>
            <a:ext cx="4142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Swagger（仅开发环境）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656832" y="1700784"/>
            <a:ext cx="4178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生产默认关闭，收敛攻击面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6928" y="2212848"/>
            <a:ext cx="1417320" cy="768096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212848"/>
            <a:ext cx="54864" cy="768096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2212848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40280" y="2212848"/>
            <a:ext cx="1645920" cy="768096"/>
          </a:xfrm>
          <a:prstGeom prst="rect">
            <a:avLst/>
          </a:prstGeom>
          <a:solidFill>
            <a:srgbClr val="13303F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22951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Presales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13432" y="2542032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售前 20+ 接口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995928" y="2212848"/>
            <a:ext cx="1645920" cy="768096"/>
          </a:xfrm>
          <a:prstGeom prst="rect">
            <a:avLst/>
          </a:prstGeom>
          <a:solidFill>
            <a:srgbClr val="13303F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87368" y="22951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Records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069080" y="2542032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实体 CRUD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751576" y="2212848"/>
            <a:ext cx="1645920" cy="768096"/>
          </a:xfrm>
          <a:prstGeom prst="rect">
            <a:avLst/>
          </a:prstGeom>
          <a:solidFill>
            <a:srgbClr val="13303F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43016" y="22951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824728" y="2542032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YAML-MD / Excel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507224" y="2212848"/>
            <a:ext cx="1645920" cy="768096"/>
          </a:xfrm>
          <a:prstGeom prst="rect">
            <a:avLst/>
          </a:prstGeom>
          <a:solidFill>
            <a:srgbClr val="13303F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98664" y="22951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580376" y="2542032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元数据 / 健康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262872" y="2212848"/>
            <a:ext cx="1645920" cy="768096"/>
          </a:xfrm>
          <a:prstGeom prst="rect">
            <a:avLst/>
          </a:prstGeom>
          <a:solidFill>
            <a:srgbClr val="13303F"/>
          </a:solidFill>
          <a:ln w="12700">
            <a:solidFill>
              <a:srgbClr val="C751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54312" y="22951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Picker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336024" y="2542032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本地文件对话框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66928" y="3163824"/>
            <a:ext cx="1417320" cy="768096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3163824"/>
            <a:ext cx="54864" cy="768096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" y="3163824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调度层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240280" y="3163824"/>
            <a:ext cx="2651760" cy="768096"/>
          </a:xfrm>
          <a:prstGeom prst="rect">
            <a:avLst/>
          </a:prstGeom>
          <a:solidFill>
            <a:srgbClr val="13303F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31720" y="32461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GenerationQueue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313432" y="3493008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有界 Channel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容量 200，满则等待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74920" y="3163824"/>
            <a:ext cx="2834640" cy="768096"/>
          </a:xfrm>
          <a:prstGeom prst="rect">
            <a:avLst/>
          </a:prstGeom>
          <a:solidFill>
            <a:srgbClr val="13303F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32461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GenerationWorker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148072" y="3493008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BackgroundService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信号量并发 2 · 60 分钟超时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092440" y="3163824"/>
            <a:ext cx="2816352" cy="768096"/>
          </a:xfrm>
          <a:prstGeom prst="rect">
            <a:avLst/>
          </a:prstGeom>
          <a:solidFill>
            <a:srgbClr val="13303F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83880" y="324612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JobRegistry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165592" y="3493008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ConcurrentDictionary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内存态，供前端轮询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66928" y="4114800"/>
            <a:ext cx="1417320" cy="896112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6928" y="4114800"/>
            <a:ext cx="54864" cy="896112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656" y="4114800"/>
            <a:ext cx="1280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领域层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240280" y="4114800"/>
            <a:ext cx="3154680" cy="896112"/>
          </a:xfrm>
          <a:prstGeom prst="rect">
            <a:avLst/>
          </a:prstGeom>
          <a:solidFill>
            <a:srgbClr val="13303F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31720" y="419709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ClaudeAgentService（核心 485 行）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2313432" y="4443984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模块选定：结构化输出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方案生成：手写 Agent 工具循环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带缓存知识库 system 前缀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541264" y="4114800"/>
            <a:ext cx="2057400" cy="896112"/>
          </a:xfrm>
          <a:prstGeom prst="rect">
            <a:avLst/>
          </a:prstGeom>
          <a:solidFill>
            <a:srgbClr val="13303F"/>
          </a:solidFill>
          <a:ln w="12700">
            <a:solidFill>
              <a:srgbClr val="C7514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32704" y="419709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FileTools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614416" y="4443984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受控读写 · 唯一磁盘出入口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读根白名单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写扩展名白名单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744968" y="4114800"/>
            <a:ext cx="1554480" cy="896112"/>
          </a:xfrm>
          <a:prstGeom prst="rect">
            <a:avLst/>
          </a:prstGeom>
          <a:solidFill>
            <a:srgbClr val="13303F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36408" y="41970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ModuleCatalog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7818120" y="444398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校验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反幻觉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445752" y="4114800"/>
            <a:ext cx="1463040" cy="896112"/>
          </a:xfrm>
          <a:prstGeom prst="rect">
            <a:avLst/>
          </a:prstGeom>
          <a:solidFill>
            <a:srgbClr val="13303F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537192" y="41970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DocxExporter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9518904" y="4443984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Pandoc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OpenXML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66928" y="5230368"/>
            <a:ext cx="1417320" cy="685800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66928" y="5230368"/>
            <a:ext cx="54864" cy="68580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6656" y="523036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2240280" y="5230368"/>
            <a:ext cx="2651760" cy="685800"/>
          </a:xfrm>
          <a:prstGeom prst="rect">
            <a:avLst/>
          </a:prstGeom>
          <a:solidFill>
            <a:srgbClr val="13303F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331720" y="53126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8（Dapper）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2313432" y="555955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项目需求 + 生成记录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074920" y="5230368"/>
            <a:ext cx="2834640" cy="685800"/>
          </a:xfrm>
          <a:prstGeom prst="rect">
            <a:avLst/>
          </a:prstGeom>
          <a:solidFill>
            <a:srgbClr val="13303F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66360" y="53126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本地知识库文件系统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5148072" y="5559552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references/ · potocol/ · projects/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8092440" y="5230368"/>
            <a:ext cx="2816352" cy="685800"/>
          </a:xfrm>
          <a:prstGeom prst="rect">
            <a:avLst/>
          </a:prstGeom>
          <a:solidFill>
            <a:srgbClr val="13303F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183880" y="531266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Messages API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8165592" y="5559552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 · 自动退避重试 · usage 计量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063240" y="2999232"/>
            <a:ext cx="0" cy="146304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3063240" y="3950208"/>
            <a:ext cx="0" cy="146304"/>
          </a:xfrm>
          <a:prstGeom prst="line">
            <a:avLst/>
          </a:prstGeom>
          <a:noFill/>
          <a:ln w="22225">
            <a:solidFill>
              <a:srgbClr val="12A594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3063240" y="5029200"/>
            <a:ext cx="0" cy="182880"/>
          </a:xfrm>
          <a:prstGeom prst="line">
            <a:avLst/>
          </a:prstGeom>
          <a:noFill/>
          <a:ln w="22225">
            <a:solidFill>
              <a:srgbClr val="12A594"/>
            </a:solidFill>
            <a:prstDash val="solid"/>
            <a:tailEnd type="triangle"/>
          </a:ln>
        </p:spPr>
      </p:sp>
      <p:sp>
        <p:nvSpPr>
          <p:cNvPr id="73" name="Text 71"/>
          <p:cNvSpPr/>
          <p:nvPr/>
        </p:nvSpPr>
        <p:spPr>
          <a:xfrm>
            <a:off x="566928" y="61081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请求路径：前端 POST /generate → 控制器仅做校验与入队并立即 202 Accepted → Worker 出队执行 → 前端轮询 /generate/status 拿阶段、日志与耗时。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MAP / 代码组织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两个模块共库共前端，约 3,000 行自有代码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84687" y="347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A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同一进程内并存两套能力，前端顶部标签切换；共用 MySQL 库 SmartLabOS-Presales-AI。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39496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91640"/>
            <a:ext cx="68580" cy="397764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28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主数据维护（移植自 DataMaintenance）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213969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逐字保留原 UI 与操作，作为 AI 生成的数据底座。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1248" y="2514600"/>
            <a:ext cx="4937760" cy="420624"/>
          </a:xfrm>
          <a:prstGeom prst="rect">
            <a:avLst/>
          </a:prstGeom>
          <a:solidFill>
            <a:srgbClr val="E9E6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51460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SmartLabRepository.cs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21608" y="251460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196 行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251460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类主数据 CRUD 仓储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41248" y="3017520"/>
            <a:ext cx="4937760" cy="420624"/>
          </a:xfrm>
          <a:prstGeom prst="rect">
            <a:avLst/>
          </a:prstGeom>
          <a:solidFill>
            <a:srgbClr val="E9E6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01752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EntityRegistry.cs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21608" y="301752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122 行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0" y="301752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实体 / 列元数据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41248" y="3520440"/>
            <a:ext cx="4937760" cy="420624"/>
          </a:xfrm>
          <a:prstGeom prst="rect">
            <a:avLst/>
          </a:prstGeom>
          <a:solidFill>
            <a:srgbClr val="E9E6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352044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CardTemplateImporter.cs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21608" y="352044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263 行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80560" y="352044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卡片模板导入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41248" y="4023360"/>
            <a:ext cx="4937760" cy="420624"/>
          </a:xfrm>
          <a:prstGeom prst="rect">
            <a:avLst/>
          </a:prstGeom>
          <a:solidFill>
            <a:srgbClr val="E9E6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402336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XlsxReader.cs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21608" y="402336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149 行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80560" y="402336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零依赖 xlsx 解析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41248" y="4526280"/>
            <a:ext cx="4937760" cy="420624"/>
          </a:xfrm>
          <a:prstGeom prst="rect">
            <a:avLst/>
          </a:prstGeom>
          <a:solidFill>
            <a:srgbClr val="E9E6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" y="452628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YamlEmitter / YamlMdCard.cs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721608" y="452628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168 行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80560" y="452628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 YAML-MD 卡片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41248" y="5029200"/>
            <a:ext cx="4937760" cy="420624"/>
          </a:xfrm>
          <a:prstGeom prst="rect">
            <a:avLst/>
          </a:prstGeom>
          <a:solidFill>
            <a:srgbClr val="E9E6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0976" y="502920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RecordsController / TransferController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21608" y="502920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292 行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480560" y="502920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CRUD 与导入导出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36208" y="1691640"/>
            <a:ext cx="539496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36208" y="1691640"/>
            <a:ext cx="68580" cy="397764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0528" y="1828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售前方案自动生成（AI Agent · 新建）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510528" y="213969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把「CLI 子进程 + 扫盘回读」换成官方 SDK 直调。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10528" y="2514600"/>
            <a:ext cx="4937760" cy="420624"/>
          </a:xfrm>
          <a:prstGeom prst="rect">
            <a:avLst/>
          </a:prstGeom>
          <a:solidFill>
            <a:srgbClr val="F3EA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0256" y="251460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ClaudeAgentService.cs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390888" y="251460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6A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485 行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149840" y="251460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大模型核心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510528" y="3017520"/>
            <a:ext cx="4937760" cy="420624"/>
          </a:xfrm>
          <a:prstGeom prst="rect">
            <a:avLst/>
          </a:prstGeom>
          <a:solidFill>
            <a:srgbClr val="F3EA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0256" y="301752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FileTools.cs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390888" y="301752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6A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140 行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149840" y="301752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受控读写边界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510528" y="3520440"/>
            <a:ext cx="4937760" cy="420624"/>
          </a:xfrm>
          <a:prstGeom prst="rect">
            <a:avLst/>
          </a:prstGeom>
          <a:solidFill>
            <a:srgbClr val="F3EA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20256" y="352044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DocxExporter.cs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390888" y="352044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6A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278 行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149840" y="352044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 导出双路径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510528" y="4023360"/>
            <a:ext cx="4937760" cy="420624"/>
          </a:xfrm>
          <a:prstGeom prst="rect">
            <a:avLst/>
          </a:prstGeom>
          <a:solidFill>
            <a:srgbClr val="F3EA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20256" y="402336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ModuleCatalog.cs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390888" y="402336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6A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130 行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149840" y="402336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 校验反幻觉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510528" y="4526280"/>
            <a:ext cx="4937760" cy="420624"/>
          </a:xfrm>
          <a:prstGeom prst="rect">
            <a:avLst/>
          </a:prstGeom>
          <a:solidFill>
            <a:srgbClr val="F3EA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20256" y="452628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GenerationQueue / Worker / JobModels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390888" y="452628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6A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219 行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149840" y="452628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队列与后台消费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510528" y="5029200"/>
            <a:ext cx="4937760" cy="420624"/>
          </a:xfrm>
          <a:prstGeom prst="rect">
            <a:avLst/>
          </a:prstGeom>
          <a:solidFill>
            <a:srgbClr val="F3EA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20256" y="502920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PresalesController / Repository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9390888" y="502920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6A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623 行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149840" y="502920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与持久化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66928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外部依赖仅 6 个 NuGet 包；前端无构建链。整体是「可读优先」的单体，新人一天可通读全部核心路径。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/ 业务流程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五步工作流：AI 负责推理，人负责闸门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84687" y="347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A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每一步都有服务端硬校验，未达前置条件直接 400 拒绝——AI 不能跳步，人工确认是不可绕过的关卡。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2048256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828800"/>
            <a:ext cx="68580" cy="256032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993392"/>
            <a:ext cx="347472" cy="347472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792224" y="2020824"/>
            <a:ext cx="658368" cy="274320"/>
          </a:xfrm>
          <a:prstGeom prst="rect">
            <a:avLst/>
          </a:prstGeom>
          <a:solidFill>
            <a:srgbClr val="E5ED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92224" y="20208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04672" y="243230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新建项目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" y="276148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/projects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04672" y="3072384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名称唯一性校验、非法字符过滤；创建 projects/ 下的同名输出目录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33472" y="3200400"/>
            <a:ext cx="164592" cy="0"/>
          </a:xfrm>
          <a:prstGeom prst="line">
            <a:avLst/>
          </a:prstGeom>
          <a:noFill/>
          <a:ln w="22225">
            <a:solidFill>
              <a:srgbClr val="0B1F2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816352" y="1828800"/>
            <a:ext cx="2048256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816352" y="1828800"/>
            <a:ext cx="68580" cy="256032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54096" y="1993392"/>
            <a:ext cx="347472" cy="347472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54096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041648" y="2020824"/>
            <a:ext cx="658368" cy="274320"/>
          </a:xfrm>
          <a:prstGeom prst="rect">
            <a:avLst/>
          </a:prstGeom>
          <a:solidFill>
            <a:srgbClr val="E5ED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41648" y="20208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054096" y="243230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采集需求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054096" y="276148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/projects/{id}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054096" y="3072384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 ≤1500 字、挑战与期望 ≤20×200 字；流程范围 / 上下料 / 软件功能走枚举校验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82896" y="3200400"/>
            <a:ext cx="164592" cy="0"/>
          </a:xfrm>
          <a:prstGeom prst="line">
            <a:avLst/>
          </a:prstGeom>
          <a:noFill/>
          <a:ln w="22225">
            <a:solidFill>
              <a:srgbClr val="0B1F2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065776" y="1828800"/>
            <a:ext cx="2048256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65776" y="1828800"/>
            <a:ext cx="68580" cy="256032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1993392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91072" y="2020824"/>
            <a:ext cx="658368" cy="274320"/>
          </a:xfrm>
          <a:prstGeom prst="rect">
            <a:avLst/>
          </a:prstGeom>
          <a:solidFill>
            <a:srgbClr val="F3EA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1072" y="20208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6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0" y="243230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模块选定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303520" y="276148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/modules/select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303520" y="3072384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入队 → Claude 结构化输出推荐模块 → ModuleCatalog 过滤幻觉 ID → 落库待确认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132320" y="3200400"/>
            <a:ext cx="164592" cy="0"/>
          </a:xfrm>
          <a:prstGeom prst="line">
            <a:avLst/>
          </a:prstGeom>
          <a:noFill/>
          <a:ln w="22225">
            <a:solidFill>
              <a:srgbClr val="0B1F2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315200" y="1828800"/>
            <a:ext cx="2048256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315200" y="1828800"/>
            <a:ext cx="68580" cy="2560320"/>
          </a:xfrm>
          <a:prstGeom prst="rect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52944" y="1993392"/>
            <a:ext cx="347472" cy="347472"/>
          </a:xfrm>
          <a:prstGeom prst="ellipse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52944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540496" y="2020824"/>
            <a:ext cx="658368" cy="274320"/>
          </a:xfrm>
          <a:prstGeom prst="rect">
            <a:avLst/>
          </a:prstGeom>
          <a:solidFill>
            <a:srgbClr val="F5E2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40496" y="20208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人工闸门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552944" y="243230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模块确认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552944" y="276148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/modules/confirm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552944" y="3072384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人工增删后确认；modules_confirmed=1 才放行下一步，否则生成接口 400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381744" y="3200400"/>
            <a:ext cx="164592" cy="0"/>
          </a:xfrm>
          <a:prstGeom prst="line">
            <a:avLst/>
          </a:prstGeom>
          <a:noFill/>
          <a:ln w="22225">
            <a:solidFill>
              <a:srgbClr val="0B1F2A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9564624" y="1828800"/>
            <a:ext cx="2048256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564624" y="1828800"/>
            <a:ext cx="68580" cy="256032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802368" y="1993392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802368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789920" y="2020824"/>
            <a:ext cx="658368" cy="274320"/>
          </a:xfrm>
          <a:prstGeom prst="rect">
            <a:avLst/>
          </a:prstGeom>
          <a:solidFill>
            <a:srgbClr val="F3EA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789920" y="20208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6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9802368" y="243230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方案生成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9802368" y="276148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/generate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9802368" y="3072384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 Agent 工具循环，产出 HTML / URS / Markdown / docx 全套交付物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66928" y="4709160"/>
            <a:ext cx="11064240" cy="1463040"/>
          </a:xfrm>
          <a:prstGeom prst="rect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6928" y="4709160"/>
            <a:ext cx="68580" cy="146304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1248" y="4864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为什么把「模块确认」设成硬闸门？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841248" y="519379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模块集合是后续平台选型、工作站组装、耗时测算的共同输入。一旦选错，两阶段生成的全部产出都会连锁失效，且每次返工都是真金白银的 token 成本。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因此系统把「最容易出错、最难回滚」的一步交还给人：AI 负责给推荐，工程师负责做决策。未确认前，生成接口一律 400 拒绝——这不是流程繁琐，是把人放在最该在的位置上。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 ① / 模块选定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结构化输出 + 目录校验：两道防线堵死模块幻觉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84687" y="347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A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55321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325880"/>
            <a:ext cx="68580" cy="228600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463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做法：让模型只能吐合法 JSON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1783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不再让模型「写 JSON 文件再回读」，而是用 OutputConfig.Format 传入 JSON Schema，由 API 层保证返回结构；additionalProperties=false 禁止自由发挥。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41248" y="2395728"/>
            <a:ext cx="5029200" cy="882650"/>
          </a:xfrm>
          <a:prstGeom prst="rect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487168"/>
            <a:ext cx="4773168" cy="699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OutputConfig = new OutputConfig {</a:t>
            </a:r>
            <a:endParaRPr lang="en-US" sz="950" dirty="0"/>
          </a:p>
          <a:p>
            <a:pPr marL="0" indent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Effort = ParseEffort(_s.Effort),</a:t>
            </a:r>
            <a:endParaRPr lang="en-US" sz="950" dirty="0"/>
          </a:p>
          <a:p>
            <a:pPr marL="0" indent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Format = new JsonOutputFormat { Schema = schema } },</a:t>
            </a:r>
            <a:endParaRPr lang="en-US" sz="950" dirty="0"/>
          </a:p>
          <a:p>
            <a:pPr marL="0" indent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Thinking = new ThinkingConfigAdaptive(),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73368" y="1325880"/>
            <a:ext cx="52578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73368" y="1325880"/>
            <a:ext cx="68580" cy="228600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47688" y="1463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兜底：结构合法 ≠ 内容真实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47688" y="1783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只能保证「是个字符串数组」，无法保证 MOD-CC-999 真的存在。因此返回值再过一遍 ModuleCatalog：以文件名为准校验存在性、统一大写、去重、保序。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47688" y="2395728"/>
            <a:ext cx="4754880" cy="882650"/>
          </a:xfrm>
          <a:prstGeom prst="rect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75704" y="2487168"/>
            <a:ext cx="4498848" cy="699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pick = SafeParse&lt;ModulePick&gt;(json);</a:t>
            </a:r>
            <a:endParaRPr lang="en-US" sz="950" dirty="0"/>
          </a:p>
          <a:p>
            <a:pPr marL="0" indent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仅保留知识库中真实存在的 ID</a:t>
            </a:r>
            <a:endParaRPr lang="en-US" sz="950" dirty="0"/>
          </a:p>
          <a:p>
            <a:pPr marL="0" indent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ids = _catalog.Normalize(pick?.Modules);</a:t>
            </a:r>
            <a:endParaRPr lang="en-US" sz="950" dirty="0"/>
          </a:p>
          <a:p>
            <a:pPr marL="0" indent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幻觉编号在此被静默丢弃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端到端链路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" y="4133088"/>
            <a:ext cx="16642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" y="4133088"/>
            <a:ext cx="1664208" cy="41148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42519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国标 + 需求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76656" y="450799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protocols / 现状 / 挑战 / 期望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49424" y="4572000"/>
            <a:ext cx="173736" cy="0"/>
          </a:xfrm>
          <a:prstGeom prst="line">
            <a:avLst/>
          </a:prstGeom>
          <a:noFill/>
          <a:ln w="22225">
            <a:solidFill>
              <a:srgbClr val="0B1F2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441448" y="4133088"/>
            <a:ext cx="16642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441448" y="4133088"/>
            <a:ext cx="1664208" cy="41148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51176" y="42519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前缀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551176" y="450799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 模块索引 + 硬约束，带缓存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23944" y="4572000"/>
            <a:ext cx="173736" cy="0"/>
          </a:xfrm>
          <a:prstGeom prst="line">
            <a:avLst/>
          </a:prstGeom>
          <a:noFill/>
          <a:ln w="22225">
            <a:solidFill>
              <a:srgbClr val="0B1F2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315968" y="4133088"/>
            <a:ext cx="16642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15968" y="4133088"/>
            <a:ext cx="1664208" cy="41148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25696" y="42519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推理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425696" y="450799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Effort=high，自适应思考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998464" y="4572000"/>
            <a:ext cx="173736" cy="0"/>
          </a:xfrm>
          <a:prstGeom prst="line">
            <a:avLst/>
          </a:prstGeom>
          <a:noFill/>
          <a:ln w="22225">
            <a:solidFill>
              <a:srgbClr val="0B1F2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190488" y="4133088"/>
            <a:ext cx="16642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90488" y="4133088"/>
            <a:ext cx="1664208" cy="41148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0216" y="42519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约束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300216" y="450799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modules[] + notes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872984" y="4572000"/>
            <a:ext cx="173736" cy="0"/>
          </a:xfrm>
          <a:prstGeom prst="line">
            <a:avLst/>
          </a:prstGeom>
          <a:noFill/>
          <a:ln w="22225">
            <a:solidFill>
              <a:srgbClr val="0B1F2A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065008" y="4133088"/>
            <a:ext cx="16642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065008" y="4133088"/>
            <a:ext cx="1664208" cy="41148"/>
          </a:xfrm>
          <a:prstGeom prst="rect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74736" y="42519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目录校验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174736" y="450799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Normalize → 真实 ID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747504" y="4572000"/>
            <a:ext cx="173736" cy="0"/>
          </a:xfrm>
          <a:prstGeom prst="line">
            <a:avLst/>
          </a:prstGeom>
          <a:noFill/>
          <a:ln w="22225">
            <a:solidFill>
              <a:srgbClr val="0B1F2A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939528" y="4133088"/>
            <a:ext cx="16642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939528" y="4133088"/>
            <a:ext cx="1664208" cy="41148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49256" y="42519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落库待确认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0049256" y="450799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confirmed=false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66928" y="5166360"/>
            <a:ext cx="11064240" cy="1170432"/>
          </a:xfrm>
          <a:prstGeom prst="rect">
            <a:avLst/>
          </a:prstGeom>
          <a:solidFill>
            <a:srgbClr val="E7E9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6928" y="5166360"/>
            <a:ext cx="68580" cy="1170432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1248" y="52852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选型原则（写进提示词的硬规则）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841248" y="555955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覆盖前处理每道工序（加液 / 涡旋 / 离心 / 浓缩 / SPE 净化 / 定容）不遗漏；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满足工艺前提下尽量精简、去冗余，追求「最小充分集合」；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确无匹配模块时写进 notes 说明缺口，绝不编造编号——「说不知道」优先于「猜一个」。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 ② / 方案生成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两阶段流水：先出解决方案，再整合成设计方案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84687" y="347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A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两阶段各自独立发起 Agent 工具循环，共用同一份带缓存的知识库 system 前缀；阶段号由服务端权威写入 job.Phase，前端据此显示进度条。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5321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91640"/>
            <a:ext cx="68580" cy="329184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874520"/>
            <a:ext cx="365760" cy="36576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16736" y="1874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阶段一：解决方案 HTML + 模块 URS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59536" y="2505456"/>
            <a:ext cx="82296" cy="8229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23774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逐个国标处理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87168" y="23774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对每个国标 read_kb_file 读取前处理流程全文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59536" y="2926080"/>
            <a:ext cx="82296" cy="8229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279806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强制选型范围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87168" y="279806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只能从「已确认模块」中选，清单外模块须书面说明缺口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59536" y="3346704"/>
            <a:ext cx="82296" cy="8229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321868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平台与工作站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487168" y="32186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选定平台型号 → 搭载模组组成工作站 → 按工序顺序串联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59536" y="3767328"/>
            <a:ext cx="82296" cy="8229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36393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耗时测算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487168" y="36393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模块功能码耗时 + 上下料时间；各平台节拍尽量对齐 600 秒，据此拆分平台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59536" y="4187952"/>
            <a:ext cx="82296" cy="8229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9848" y="40599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缺口补位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487168" y="405993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模块无法覆盖时生成「xxx-模块-URS.html」，耗时按规范值计入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59536" y="4608576"/>
            <a:ext cx="82296" cy="8229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9848" y="44805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487168" y="44805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write_output 保存为 1.html、2.html…（按国标顺序）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73368" y="1691640"/>
            <a:ext cx="52578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73368" y="1691640"/>
            <a:ext cx="68580" cy="329184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47688" y="187452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4768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123176" y="1874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阶段二：《详细设计方案》Markdown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6665976" y="2505456"/>
            <a:ext cx="82296" cy="8229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76288" y="23774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927848" y="23774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read_kb_file 读回阶段一自己写出的 *.html，必要时再读卡片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665976" y="2926080"/>
            <a:ext cx="82296" cy="8229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76288" y="279806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章节要求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927848" y="279806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 / 目录 / 概述 / 标准适配 / 总体架构 / 各平台 / 流程与产能 / 实施 / 风险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665976" y="3346704"/>
            <a:ext cx="82296" cy="8229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76288" y="321868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量化红线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927848" y="32186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指标必须是「数值 + 单位 + 精度 + 通讯协议」，禁止「高精度 / 快速」等定性词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665976" y="3767328"/>
            <a:ext cx="82296" cy="8229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76288" y="363931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927848" y="363931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耗时与产能必须与阶段一 HTML 的计算结果一致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665976" y="4187952"/>
            <a:ext cx="82296" cy="8229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76288" y="405993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表格化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927848" y="40599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关键技术指标表 / 检测标准适配表 / 实施阶段表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665976" y="4608576"/>
            <a:ext cx="82296" cy="8229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76288" y="44805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927848" y="44805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&lt;项目名&gt;-详细设计方案.md → 自动导出 .docx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66928" y="5166360"/>
            <a:ext cx="11064240" cy="1170432"/>
          </a:xfrm>
          <a:prstGeom prst="rect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6928" y="5166360"/>
            <a:ext cx="68580" cy="1170432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1248" y="52852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设计洞察：为什么阶段二要「读回自己写的 HTML」，而不是直接在内存里传？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841248" y="555955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因为落盘的 HTML 是「人可复核、可修改」的中间产物。工程师能在两阶段之间打开文件核对耗时与选型，改完再跑阶段二——中间产物即审核点。代价是阶段二要重新把 HTML 读进上下文，多花一份输入 token；这是用成本换可控性的自觉取舍。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LOOP / 工具循环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手写 Agent 循环：一次 API 调用换一轮工具执行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RunToolLoopAsync 是整个系统的心脏——不用任何 Agent 框架，用一个 for 循环把「模型请求工具 → C# 执行 → 结果回喂」串起来，最多 40 轮。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664208" cy="960120"/>
          </a:xfrm>
          <a:prstGeom prst="rect">
            <a:avLst/>
          </a:prstGeom>
          <a:solidFill>
            <a:srgbClr val="13303F"/>
          </a:solidFill>
          <a:ln w="12700">
            <a:solidFill>
              <a:srgbClr val="1D43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901952"/>
            <a:ext cx="292608" cy="29260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76656" y="224942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messages 初始化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76656" y="247802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50"/>
              </a:lnSpc>
              <a:buNone/>
            </a:pPr>
            <a:r>
              <a:rPr lang="en-US" sz="7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= 阶段任务提示词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249424" y="2240280"/>
            <a:ext cx="173736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41448" y="1783080"/>
            <a:ext cx="1664208" cy="960120"/>
          </a:xfrm>
          <a:prstGeom prst="rect">
            <a:avLst/>
          </a:prstGeom>
          <a:solidFill>
            <a:srgbClr val="13303F"/>
          </a:solidFill>
          <a:ln w="12700">
            <a:solidFill>
              <a:srgbClr val="1D43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1176" y="1901952"/>
            <a:ext cx="292608" cy="29260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51176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51176" y="224942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Messages.Create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51176" y="247802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50"/>
              </a:lnSpc>
              <a:buNone/>
            </a:pPr>
            <a:r>
              <a:rPr lang="en-US" sz="7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system(带缓存) + tools + messages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23944" y="2240280"/>
            <a:ext cx="173736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15968" y="1783080"/>
            <a:ext cx="1664208" cy="960120"/>
          </a:xfrm>
          <a:prstGeom prst="rect">
            <a:avLst/>
          </a:prstGeom>
          <a:solidFill>
            <a:srgbClr val="13303F"/>
          </a:solidFill>
          <a:ln w="12700">
            <a:solidFill>
              <a:srgbClr val="1D43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25696" y="1901952"/>
            <a:ext cx="292608" cy="29260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25696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25696" y="224942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 content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25696" y="247802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50"/>
              </a:lnSpc>
              <a:buNone/>
            </a:pPr>
            <a:r>
              <a:rPr lang="en-US" sz="7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/ thinking / tool_use 分流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998464" y="2240280"/>
            <a:ext cx="173736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190488" y="1783080"/>
            <a:ext cx="1664208" cy="960120"/>
          </a:xfrm>
          <a:prstGeom prst="rect">
            <a:avLst/>
          </a:prstGeom>
          <a:solidFill>
            <a:srgbClr val="13303F"/>
          </a:solidFill>
          <a:ln w="12700">
            <a:solidFill>
              <a:srgbClr val="1D435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0216" y="1901952"/>
            <a:ext cx="292608" cy="29260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00216" y="224942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ExecuteTool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00216" y="247802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50"/>
              </a:lnSpc>
              <a:buNone/>
            </a:pPr>
            <a:r>
              <a:rPr lang="en-US" sz="7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 亲自执行受控读写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872984" y="2240280"/>
            <a:ext cx="173736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065008" y="1783080"/>
            <a:ext cx="1664208" cy="960120"/>
          </a:xfrm>
          <a:prstGeom prst="rect">
            <a:avLst/>
          </a:prstGeom>
          <a:solidFill>
            <a:srgbClr val="13303F"/>
          </a:solidFill>
          <a:ln w="12700">
            <a:solidFill>
              <a:srgbClr val="1D435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74736" y="1901952"/>
            <a:ext cx="292608" cy="29260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74736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174736" y="224942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回喂 tool_result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74736" y="247802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50"/>
              </a:lnSpc>
              <a:buNone/>
            </a:pPr>
            <a:r>
              <a:rPr lang="en-US" sz="7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以 user 角色追加结果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9747504" y="2240280"/>
            <a:ext cx="173736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939528" y="1783080"/>
            <a:ext cx="1664208" cy="960120"/>
          </a:xfrm>
          <a:prstGeom prst="rect">
            <a:avLst/>
          </a:prstGeom>
          <a:solidFill>
            <a:srgbClr val="13303F"/>
          </a:solidFill>
          <a:ln w="19050">
            <a:solidFill>
              <a:srgbClr val="12A59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49256" y="1901952"/>
            <a:ext cx="292608" cy="292608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49256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049256" y="224942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无工具调用 → 收敛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049256" y="247802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50"/>
              </a:lnSpc>
              <a:buNone/>
            </a:pPr>
            <a:r>
              <a:rPr lang="en-US" sz="7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记录 stop_reason，本阶段完成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8897112" y="2743200"/>
            <a:ext cx="0" cy="310896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73552" y="3054096"/>
            <a:ext cx="5623560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73552" y="2743200"/>
            <a:ext cx="0" cy="310896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  <a:headEnd type="triangle"/>
          </a:ln>
        </p:spPr>
      </p:sp>
      <p:sp>
        <p:nvSpPr>
          <p:cNvPr id="43" name="Text 41"/>
          <p:cNvSpPr/>
          <p:nvPr/>
        </p:nvSpPr>
        <p:spPr>
          <a:xfrm>
            <a:off x="3410712" y="309067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循环回喂：模型基于工具结果继续推理 →  第 6 步为出口（上限 40 轮防失控）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66928" y="3520440"/>
            <a:ext cx="5532120" cy="2788920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66928" y="3520440"/>
            <a:ext cx="68580" cy="278892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" y="3657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三个关键实现细节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41248" y="40233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thinking 必须原样回传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41248" y="4251960"/>
            <a:ext cx="4956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同模型多轮对话中，thinking 块与其 Signature 不可篡改，否则后续请求被拒；代码用 ThinkingBlockParam 原样带回，并单独处理 RedactedThinking。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41248" y="478231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assistant 消息完整重建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41248" y="5010912"/>
            <a:ext cx="4956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 / thinking / tool_use 全部按原顺序塞回 messages，保证模型看到的历史与它自己生成的一致。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41248" y="554126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工具结果以 user 角色追加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41248" y="5769864"/>
            <a:ext cx="4956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ToolResultBlockParam 携带 ToolUseID 配对，多个工具调用可在一轮内并行返回。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73368" y="3520440"/>
            <a:ext cx="5257800" cy="2788920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373368" y="3520440"/>
            <a:ext cx="68580" cy="278892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47688" y="3657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异常分层与可观测性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647688" y="4023360"/>
            <a:ext cx="4754880" cy="1232535"/>
          </a:xfrm>
          <a:prstGeom prst="rect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75704" y="4114800"/>
            <a:ext cx="4498848" cy="1049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 (AnthropicRateLimitException ex)</a:t>
            </a:r>
            <a:endParaRPr lang="en-US" sz="950" dirty="0"/>
          </a:p>
          <a:p>
            <a:pPr marL="0" indent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[限流]（SDK 已自动退避重试）</a:t>
            </a:r>
            <a:endParaRPr lang="en-US" sz="950" dirty="0"/>
          </a:p>
          <a:p>
            <a:pPr marL="0" indent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 (Anthropic5xxException ex)</a:t>
            </a:r>
            <a:endParaRPr lang="en-US" sz="950" dirty="0"/>
          </a:p>
          <a:p>
            <a:pPr marL="0" indent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[服务端错误]</a:t>
            </a:r>
            <a:endParaRPr lang="en-US" sz="950" dirty="0"/>
          </a:p>
          <a:p>
            <a:pPr marL="0" indent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 (AnthropicApiException ex)</a:t>
            </a:r>
            <a:endParaRPr lang="en-US" sz="950" dirty="0"/>
          </a:p>
          <a:p>
            <a:pPr marL="0" indent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[错误] 通用兜底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647688" y="5376672"/>
            <a:ext cx="4773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旧实现只能字符串匹配 CLI 的 stdout 猜错误类型；现在是强类型异常，限流由 SDK 自动退避重试。每轮还打印 usage：in / out / cacheRead / cacheWrite，token 成本实时可见。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/ 安全边界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三个受控工具：模型触碰磁盘的唯一通道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84687" y="347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A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这是本项目相对旧实现最重要的改造。旧版把整个项目根目录以 bypassPermissions 交给 CLI；现在所有读写都由 FileTools 的 C# 代码亲自执行。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352958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91640"/>
            <a:ext cx="68580" cy="137160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list_kb_dir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28416" y="1847088"/>
            <a:ext cx="566928" cy="256032"/>
          </a:xfrm>
          <a:prstGeom prst="rect">
            <a:avLst/>
          </a:prstGeom>
          <a:solidFill>
            <a:srgbClr val="E5ED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28416" y="184708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" y="2194560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 references/ · potocol/ · 本项目输出目录；最多返回 400 条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15968" y="1691640"/>
            <a:ext cx="352958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15968" y="1691640"/>
            <a:ext cx="68580" cy="137160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read_kb_file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77456" y="1847088"/>
            <a:ext cx="566928" cy="256032"/>
          </a:xfrm>
          <a:prstGeom prst="rect">
            <a:avLst/>
          </a:prstGeom>
          <a:solidFill>
            <a:srgbClr val="E5ED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77456" y="184708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90288" y="2194560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同上三个根；单文件上限 512KB，超限只返回前 256KB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5008" y="1691640"/>
            <a:ext cx="352958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65008" y="1691640"/>
            <a:ext cx="68580" cy="1371600"/>
          </a:xfrm>
          <a:prstGeom prst="rect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9328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write_output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826496" y="1847088"/>
            <a:ext cx="566928" cy="256032"/>
          </a:xfrm>
          <a:prstGeom prst="rect">
            <a:avLst/>
          </a:prstGeom>
          <a:solidFill>
            <a:srgbClr val="F5E2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26496" y="184708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39328" y="2194560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仅本项目输出目录；仅 .html / .md；仅纯文件名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写入路径的四道校验（WriteOutput）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66928" y="3611880"/>
            <a:ext cx="261518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6928" y="3611880"/>
            <a:ext cx="54864" cy="658368"/>
          </a:xfrm>
          <a:prstGeom prst="rect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3703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非空校验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8096" y="393192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文件名为空直接拒绝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92424" y="3611880"/>
            <a:ext cx="261518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92424" y="3611880"/>
            <a:ext cx="54864" cy="658368"/>
          </a:xfrm>
          <a:prstGeom prst="rect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93592" y="3703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纯文件名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593592" y="393192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 / \ 或非法字符即拒，杜绝目录穿越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17920" y="3611880"/>
            <a:ext cx="261518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3611880"/>
            <a:ext cx="54864" cy="658368"/>
          </a:xfrm>
          <a:prstGeom prst="rect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19088" y="3703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扩展名白名单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19088" y="393192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只允许 .html / .htm / .md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043416" y="3611880"/>
            <a:ext cx="261518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043416" y="3611880"/>
            <a:ext cx="54864" cy="658368"/>
          </a:xfrm>
          <a:prstGeom prst="rect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44584" y="3703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落地路径复核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244584" y="393192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GetFullPath 后再确认未越出项目目录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66928" y="4526280"/>
            <a:ext cx="5394960" cy="1783080"/>
          </a:xfrm>
          <a:prstGeom prst="rect">
            <a:avLst/>
          </a:prstGeom>
          <a:solidFill>
            <a:srgbClr val="F5E2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" y="4526280"/>
            <a:ext cx="68580" cy="1783080"/>
          </a:xfrm>
          <a:prstGeom prst="rect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" y="46451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旧实现（DataMaintenance）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41248" y="4956048"/>
            <a:ext cx="4846320" cy="532765"/>
          </a:xfrm>
          <a:prstGeom prst="rect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9264" y="5047488"/>
            <a:ext cx="4590288" cy="3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-p --permission-mode bypassPermissions</a:t>
            </a:r>
            <a:endParaRPr lang="en-US" sz="950" dirty="0"/>
          </a:p>
          <a:p>
            <a:pPr marL="0" indent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--add-dir &lt;项目根&gt;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41248" y="5596128"/>
            <a:ext cx="4864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模型可读写整个项目根：知识库、源码、其它客户的提案目录，无一幸免。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36208" y="4526280"/>
            <a:ext cx="5394960" cy="1783080"/>
          </a:xfrm>
          <a:prstGeom prst="rect">
            <a:avLst/>
          </a:prstGeom>
          <a:solidFill>
            <a:srgbClr val="E1ED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36208" y="4526280"/>
            <a:ext cx="68580" cy="178308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10528" y="46451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本项目（受控工具）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510528" y="4956048"/>
            <a:ext cx="4846320" cy="532765"/>
          </a:xfrm>
          <a:prstGeom prst="rect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38544" y="5047488"/>
            <a:ext cx="4590288" cy="3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_readRoots = [ ReferencesDir, ProtocolDir, projectDir ]</a:t>
            </a:r>
            <a:endParaRPr lang="en-US" sz="950" dirty="0"/>
          </a:p>
          <a:p>
            <a:pPr marL="0" indent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写入白名单根 = 单个项目输出目录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510528" y="5596128"/>
            <a:ext cx="4864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每个生成任务实例化一个 FileTools 与该项目目录绑定；越界读取一律返回不可访问，越界写入直接拒绝。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PROMPTING / 提示词工程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稳定前缀进缓存，易变任务进 user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84687" y="347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A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前缀在两个阶段、每一轮工具循环中完全一致——这正是提示词缓存生效的前提。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53212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91640"/>
            <a:ext cx="68580" cy="306324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前缀（带 CacheControlEphemeral）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" y="2176272"/>
            <a:ext cx="4956048" cy="420624"/>
          </a:xfrm>
          <a:prstGeom prst="rect">
            <a:avLst/>
          </a:prstGeom>
          <a:solidFill>
            <a:srgbClr val="EDE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17627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角色与语言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04288" y="2176272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SmartLabOS 售前 Agent；中文；QuEChERS / SPE / ICP-MS 等术语保留原文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41248" y="2660904"/>
            <a:ext cx="4956048" cy="420624"/>
          </a:xfrm>
          <a:prstGeom prst="rect">
            <a:avLst/>
          </a:prstGeom>
          <a:solidFill>
            <a:srgbClr val="EDE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660904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三条硬约束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04288" y="266090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参数须溯源；价格转销售；只能用工具读写且限 .html/.md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41248" y="3145536"/>
            <a:ext cx="4956048" cy="420624"/>
          </a:xfrm>
          <a:prstGeom prst="rect">
            <a:avLst/>
          </a:prstGeom>
          <a:solidFill>
            <a:srgbClr val="EDE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14553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知识库导航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304288" y="3145536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01-modules / 02-platforms / 03-workstation / 04-solutions / 06-pallet / potocol/MD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41248" y="3630168"/>
            <a:ext cx="4956048" cy="420624"/>
          </a:xfrm>
          <a:prstGeom prst="rect">
            <a:avLst/>
          </a:prstGeom>
          <a:solidFill>
            <a:srgbClr val="EDE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363016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 模块全清单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304288" y="3630168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「ID — 名称（分类）」仅作索引，参数须 read_kb_file 读卡片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41248" y="4114800"/>
            <a:ext cx="4956048" cy="420624"/>
          </a:xfrm>
          <a:prstGeom prst="rect">
            <a:avLst/>
          </a:prstGeom>
          <a:solidFill>
            <a:srgbClr val="EDE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411480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提案 HTML 模版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04288" y="4114800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整份模版文件内联注入，进程内缓存一次读取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73368" y="1691640"/>
            <a:ext cx="525780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73368" y="1691640"/>
            <a:ext cx="68580" cy="306324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7688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消息（每阶段各异）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47688" y="215798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 Build*Prompt 方法按项目动态拼装：已确认模块清单（强制选型范围）、国标列表、客户需求（现状/挑战/期望/流程范围/上下料/软件功能），再叠加该阶段的具体要求。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647688" y="2788920"/>
            <a:ext cx="4754880" cy="882650"/>
          </a:xfrm>
          <a:prstGeom prst="rect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75704" y="2880360"/>
            <a:ext cx="4498848" cy="699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BuildModuleSelectionPrompt(p)  → 模块选定</a:t>
            </a:r>
            <a:endParaRPr lang="en-US" sz="950" dirty="0"/>
          </a:p>
          <a:p>
            <a:pPr marL="0" indent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BuildHtmlPhasePrompt(p)        → 阶段一</a:t>
            </a:r>
            <a:endParaRPr lang="en-US" sz="950" dirty="0"/>
          </a:p>
          <a:p>
            <a:pPr marL="0" indent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BuildDetailPhasePrompt(p)      → 阶段二</a:t>
            </a:r>
            <a:endParaRPr lang="en-US" sz="950" dirty="0"/>
          </a:p>
          <a:p>
            <a:pPr marL="0" indent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BuildPreview(p)  → 前端「指令预览」复用阶段一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647688" y="3785616"/>
            <a:ext cx="4773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上下料方式还会切换措辞：自动 / 人工 / 未指定（按卡片默认值），让耗时估算口径明确。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47688" y="4206240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模块清单注入 system 而非 user，是刻意的：它随知识库变化但在一次任务内恒定，放前缀才能吃到缓存。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" y="5029200"/>
            <a:ext cx="11064240" cy="1298448"/>
          </a:xfrm>
          <a:prstGeom prst="rect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" y="5029200"/>
            <a:ext cx="68580" cy="1298448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5138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成本模型：为什么「按需读取」比「全盘塞入」更省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41248" y="541324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旧实现每次把整个知识库读进上下文；本项目只在 system 放「索引 + 导航 + 模版」，具体卡片参数由模型用 read_kb_file 按需拉取——</a:t>
            </a: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一次任务通常只读十余个真正相关的模块卡片。稳定前缀命中缓存后按 cacheRead 计价，日志每轮打印 in / out / cacheRead / cacheWrite 四项用量，成本可核算。</a:t>
            </a: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注意：CacheControlEphemeral 默认 5 分钟 TTL——阶段一若耗时较长，阶段二起手可能已经错过缓存窗口。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/ 异步任务管道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长任务不占 HTTP：入队即返回，轮询看进度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84687" y="347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A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方案生成动辄十几分钟到一小时，绝不能压在一个 HTTP 请求里。控制器只做校验与入队，立刻 202 Accepted。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11064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91640"/>
            <a:ext cx="68580" cy="603504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1810512"/>
            <a:ext cx="365760" cy="36576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52728" y="171907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41448" y="17190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校验前置条件 → 建 Job → 入队 → 202 Accepted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93408" y="171907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IsGenerating(id) 判重，同项目不允许并发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404872"/>
            <a:ext cx="11064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" y="2404872"/>
            <a:ext cx="68580" cy="603504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2523744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2523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52728" y="243230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有界队列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441448" y="243230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Channel.CreateBounded(200)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93408" y="243230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FullMode=Wait 产生背压；SingleReader 单消费者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118104"/>
            <a:ext cx="11064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3118104"/>
            <a:ext cx="68580" cy="603504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3236976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252728" y="314553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工作者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441448" y="314553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BackgroundService + SemaphoreSlim(2)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93408" y="314553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先拿信号量再 Task.Run，并发上限保护 API 限额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3831336"/>
            <a:ext cx="11064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6928" y="3831336"/>
            <a:ext cx="68580" cy="603504"/>
          </a:xfrm>
          <a:prstGeom prst="rect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096" y="3950208"/>
            <a:ext cx="365760" cy="365760"/>
          </a:xfrm>
          <a:prstGeom prst="ellipse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252728" y="385876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441448" y="38587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CreateLinkedTokenSource + CancelAfter(60min)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93408" y="385876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与进程停止令牌联动，可优雅取消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6928" y="4544568"/>
            <a:ext cx="11064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66928" y="4544568"/>
            <a:ext cx="68580" cy="603504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8096" y="4663440"/>
            <a:ext cx="365760" cy="36576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252728" y="4572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双写状态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2441448" y="4572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JobRegistry（内存，供轮询） + MySQL（供留痕）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93408" y="45720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阶段号 / 日志 / 耗时 / 产物清单 / 结束码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6928" y="5349240"/>
            <a:ext cx="5394960" cy="960120"/>
          </a:xfrm>
          <a:prstGeom prst="rect">
            <a:avLst/>
          </a:prstGeom>
          <a:solidFill>
            <a:srgbClr val="E1ED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" y="5349240"/>
            <a:ext cx="68580" cy="96012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" y="544982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服务端权威进度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41248" y="5705856"/>
            <a:ext cx="4864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阶段号由 ClaudeAgentService 通过 setPhase(1|2) 回调写入，而非前端猜测。status 接口返回 phase / phaseCount / phaseLabel / elapsedSeconds / 日志尾部 6000 字符。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36208" y="5349240"/>
            <a:ext cx="5394960" cy="960120"/>
          </a:xfrm>
          <a:prstGeom prst="rect">
            <a:avLst/>
          </a:prstGeom>
          <a:solidFill>
            <a:srgbClr val="F5E2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36208" y="5349240"/>
            <a:ext cx="68580" cy="960120"/>
          </a:xfrm>
          <a:prstGeom prst="rect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0528" y="544982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但队列仍是「进程内」的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510528" y="5705856"/>
            <a:ext cx="4864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Channel 与 JobRegistry 都在内存：进程重启后排队任务凭空消失，运行中任务在库里永远停在 running。README 称「进程退出时不再凭空丢任务」——这一点尚未真正兑现。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/ 数据模型与产物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两张表 + 一个目录，就是全部状态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84687" y="347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A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55321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325880"/>
            <a:ext cx="68580" cy="260604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463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SmartLabOS-PresalesProject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17556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项目需求主表，project_name 唯一且同时作为 projects/ 下的目录名。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41248" y="2103120"/>
            <a:ext cx="4956048" cy="365760"/>
          </a:xfrm>
          <a:prstGeom prst="rect">
            <a:avLst/>
          </a:prstGeom>
          <a:solidFill>
            <a:srgbClr val="EDE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1031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protocols / challenges / expectations / process_scope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94176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数组列，由仓储负责序列化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41248" y="2542032"/>
            <a:ext cx="4956048" cy="365760"/>
          </a:xfrm>
          <a:prstGeom prst="rect">
            <a:avLst/>
          </a:prstGeom>
          <a:solidFill>
            <a:srgbClr val="EDE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5420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 / modules_confirmed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94176" y="2542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已选定模块 ID 数组 + 人工确认标志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1248" y="2980944"/>
            <a:ext cx="4956048" cy="365760"/>
          </a:xfrm>
          <a:prstGeom prst="rect">
            <a:avLst/>
          </a:prstGeom>
          <a:solidFill>
            <a:srgbClr val="EDE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298094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gen_status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94176" y="2980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draft / queued / running / succeeded / failed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41248" y="3419856"/>
            <a:ext cx="4956048" cy="365760"/>
          </a:xfrm>
          <a:prstGeom prst="rect">
            <a:avLst/>
          </a:prstGeom>
          <a:solidFill>
            <a:srgbClr val="EDE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341985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last_command_file / last_generated_at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94176" y="34198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最近一次生成的标记与时间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73368" y="1325880"/>
            <a:ext cx="525780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73368" y="1325880"/>
            <a:ext cx="68580" cy="260604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47688" y="1463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SmartLabOS-PresalesGeneration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647688" y="17556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每次生成一条执行记录，服务重启后仍可回溯历史。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47688" y="2103120"/>
            <a:ext cx="4754880" cy="365760"/>
          </a:xfrm>
          <a:prstGeom prst="rect">
            <a:avLst/>
          </a:prstGeom>
          <a:solidFill>
            <a:srgbClr val="F3EA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57416" y="21031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command_file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485632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本次生成标记 Anthropic-Messages-API-&lt;时间戳&gt;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647688" y="2542032"/>
            <a:ext cx="4754880" cy="365760"/>
          </a:xfrm>
          <a:prstGeom prst="rect">
            <a:avLst/>
          </a:prstGeom>
          <a:solidFill>
            <a:srgbClr val="F3EA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57416" y="25420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/ exit_code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85632" y="25420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queued / running / succeeded / failed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647688" y="2980944"/>
            <a:ext cx="4754880" cy="365760"/>
          </a:xfrm>
          <a:prstGeom prst="rect">
            <a:avLst/>
          </a:prstGeom>
          <a:solidFill>
            <a:srgbClr val="F3EA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57416" y="29809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output_files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85632" y="29809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数组：产物文件名清单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647688" y="3419856"/>
            <a:ext cx="4754880" cy="365760"/>
          </a:xfrm>
          <a:prstGeom prst="rect">
            <a:avLst/>
          </a:prstGeom>
          <a:solidFill>
            <a:srgbClr val="F3EA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341985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log_excerpt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85632" y="34198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LONGTEXT，运行日志尾部 20000 字符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66928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交付产物：projects/&lt;项目名&gt;/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66928" y="4480560"/>
            <a:ext cx="261518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66928" y="4480560"/>
            <a:ext cx="68580" cy="160020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46085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22960" y="4846320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1.html · 2.html …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2960" y="5285232"/>
            <a:ext cx="2267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每个国标一份，含 SVG / Mermaid 图示与耗时测算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392424" y="4480560"/>
            <a:ext cx="261518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392424" y="4480560"/>
            <a:ext cx="68580" cy="160020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48456" y="46085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9A6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需求说明书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648456" y="4846320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xxx-模块-URS.html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648456" y="5285232"/>
            <a:ext cx="2267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已确认模块无法覆盖时，为新建模块生成 URS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17920" y="4480560"/>
            <a:ext cx="261518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217920" y="4480560"/>
            <a:ext cx="68580" cy="160020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73952" y="46085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详细设计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473952" y="4846320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&lt;项目名&gt;-详细设计方案.md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73952" y="5285232"/>
            <a:ext cx="2267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整合全部 HTML，章节完整、指标可量化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043416" y="4480560"/>
            <a:ext cx="261518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9043416" y="4480560"/>
            <a:ext cx="68580" cy="160020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99448" y="46085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9A6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可交付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9299448" y="4846320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&lt;项目名&gt;-详细设计方案.docx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299448" y="5285232"/>
            <a:ext cx="2267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自动导出，客户可直接接收的 WORD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66928" y="6217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前端「生成的文件」列表通过 GET /files 枚举 *.html / *.md / *.docx，GET /file?name= 按扩展名回不同 Content-Type，可在线预览或下载。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/ 文档导出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 双路径：优先保真，永远有兜底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84687" y="347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A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交付物必须是 WORD。系统不把这件事交给模型，而是对「我们已生成并可复核的 Markdown」做确定性转换。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3529584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91640"/>
            <a:ext cx="68580" cy="260604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874520"/>
            <a:ext cx="365760" cy="36576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16736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Pandoc（首选）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304288"/>
            <a:ext cx="3035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保真度最高。若本机装了 pandoc 或 Agent:PandocPath 指向可执行文件即启用。进程带 120 秒超时与强杀保护；未安装时捕获 Win32Exception 静默回退，不记为错误。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41248" y="3584448"/>
            <a:ext cx="3017520" cy="532765"/>
          </a:xfrm>
          <a:prstGeom prst="rect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3675888"/>
            <a:ext cx="2761488" cy="3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pandoc &lt;md&gt; --from gfm</a:t>
            </a:r>
            <a:endParaRPr lang="en-US" sz="950" dirty="0"/>
          </a:p>
          <a:p>
            <a:pPr marL="0" indent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-o &lt;docx&gt;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15968" y="1691640"/>
            <a:ext cx="3529584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15968" y="1691640"/>
            <a:ext cx="68580" cy="260604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90288" y="187452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65776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 OpenXML（兜底）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90288" y="2304288"/>
            <a:ext cx="3035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零外部依赖、离线可用。用 OpenXml 在进程内把 Markdown 转 docx：标题 / 段落 / 列表 / GFM 表格 / 代码块 / 粗斜体。不耗任何额外 API 成本。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90288" y="3584448"/>
            <a:ext cx="3017520" cy="532765"/>
          </a:xfrm>
          <a:prstGeom prst="rect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3675888"/>
            <a:ext cx="2761488" cy="3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/api/dev/docx-selftest</a:t>
            </a:r>
            <a:endParaRPr lang="en-US" sz="950" dirty="0"/>
          </a:p>
          <a:p>
            <a:pPr marL="0" indent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{"ok":true,"engine":"openxml"}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83296" y="1691640"/>
            <a:ext cx="3547872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83296" y="1691640"/>
            <a:ext cx="68580" cy="2606040"/>
          </a:xfrm>
          <a:prstGeom prst="rect">
            <a:avLst/>
          </a:prstGeom>
          <a:solidFill>
            <a:srgbClr val="5E70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57616" y="1874520"/>
            <a:ext cx="365760" cy="365760"/>
          </a:xfrm>
          <a:prstGeom prst="ellipse">
            <a:avLst/>
          </a:prstGeom>
          <a:solidFill>
            <a:srgbClr val="5E70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57616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833104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Skills（未启用）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357616" y="2304288"/>
            <a:ext cx="3035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可让 Claude 用 code_execution + 官方 docx 技能在托管容器内直接渲染。刻意不采用：额外 API 成本、依赖 beta 特性，且是「重新生成」而非转换已复核的 Markdown。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357616" y="3584448"/>
            <a:ext cx="3017520" cy="532765"/>
          </a:xfrm>
          <a:prstGeom prst="rect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85632" y="3675888"/>
            <a:ext cx="2761488" cy="3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Container.Skills =</a:t>
            </a:r>
            <a:endParaRPr lang="en-US" sz="950" dirty="0"/>
          </a:p>
          <a:p>
            <a:pPr marL="0" indent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[{ skill_id: "docx" }]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66928" y="4544568"/>
            <a:ext cx="11064240" cy="1764792"/>
          </a:xfrm>
          <a:prstGeom prst="rect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4544568"/>
            <a:ext cx="68580" cy="1764792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这个取舍值得单独说明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1248" y="498348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「让模型直接生成 docx」听起来更 AI，但它把一个确定性问题重新变回概率问题。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已经是经过人工复核的中间产物——从它到 docx 是纯格式转换，没有任何需要「智能」的地方。交给模型意味着：额外 token 成本、beta 特性依赖、每次结果可能不同、且无法保证与已复核内容一致。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系统的选择是：AI 只做需要判断力的事（选型、推理、书写），确定性的事交给确定性的代码。这条边界划得很清楚，也是整个项目最成熟的设计观。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EVOLUTION / 架构跃迁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从「驱动一个 CLI」到「构建一个 Agent」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84687" y="347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A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同一业务，两代实现。差别不在功能清单，而在「谁掌握控制权」——旧版把控制权交给子进程，新版把控制权收回进程内。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15768" y="1691640"/>
            <a:ext cx="4114800" cy="384048"/>
          </a:xfrm>
          <a:prstGeom prst="rect">
            <a:avLst/>
          </a:prstGeom>
          <a:solidFill>
            <a:srgbClr val="E4C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52928" y="1691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旧实现 · DataMaintenance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30568" y="1691640"/>
            <a:ext cx="4800600" cy="384048"/>
          </a:xfrm>
          <a:prstGeom prst="rect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67728" y="169164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 · Presales AI Agent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139696"/>
            <a:ext cx="110642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139696"/>
            <a:ext cx="1874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大模型调用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61488" y="2313432"/>
            <a:ext cx="82296" cy="82296"/>
          </a:xfrm>
          <a:prstGeom prst="ellipse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2139696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Process.Start(claude -p …) 子进程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22008" y="2313432"/>
            <a:ext cx="82296" cy="8229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04888" y="2139696"/>
            <a:ext cx="4434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 SDK client.Messages.Create，进程内 HTTPS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2638044"/>
            <a:ext cx="11064240" cy="429768"/>
          </a:xfrm>
          <a:prstGeom prst="rect">
            <a:avLst/>
          </a:prstGeom>
          <a:solidFill>
            <a:srgbClr val="EDE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638044"/>
            <a:ext cx="1874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权限模型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61488" y="2811780"/>
            <a:ext cx="82296" cy="82296"/>
          </a:xfrm>
          <a:prstGeom prst="ellipse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44368" y="2638044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bypassPermissions + --add-dir 项目根（越权）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22008" y="2811780"/>
            <a:ext cx="82296" cy="8229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04888" y="2638044"/>
            <a:ext cx="4434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个受控工具：读限知识库、写限本项目 + 扩展名白名单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3136392"/>
            <a:ext cx="110642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3136392"/>
            <a:ext cx="1874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结构化结果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61488" y="3310128"/>
            <a:ext cx="82296" cy="82296"/>
          </a:xfrm>
          <a:prstGeom prst="ellipse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44368" y="3136392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让模型写 JSON 文件，再扫盘回读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22008" y="3310128"/>
            <a:ext cx="82296" cy="8229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04888" y="3136392"/>
            <a:ext cx="4434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OutputConfig.Format 传 JSON Schema，API 层保证结构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3634740"/>
            <a:ext cx="11064240" cy="429768"/>
          </a:xfrm>
          <a:prstGeom prst="rect">
            <a:avLst/>
          </a:prstGeom>
          <a:solidFill>
            <a:srgbClr val="EDE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" y="3634740"/>
            <a:ext cx="1874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知识库成本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61488" y="3808476"/>
            <a:ext cx="82296" cy="82296"/>
          </a:xfrm>
          <a:prstGeom prst="ellipse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44368" y="363474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每次全盘读入上下文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22008" y="3808476"/>
            <a:ext cx="82296" cy="8229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04888" y="3634740"/>
            <a:ext cx="4434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放索引，卡片按需 read_kb_file；前缀走提示词缓存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" y="4133088"/>
            <a:ext cx="110642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" y="4133088"/>
            <a:ext cx="1874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错误处理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61488" y="4306824"/>
            <a:ext cx="82296" cy="82296"/>
          </a:xfrm>
          <a:prstGeom prst="ellipse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44368" y="413308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字符串匹配 stdout 猜错误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22008" y="4306824"/>
            <a:ext cx="82296" cy="8229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04888" y="4133088"/>
            <a:ext cx="4434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强类型异常分层 + SDK 自动退避重试 + usage 用量可读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6928" y="4631436"/>
            <a:ext cx="11064240" cy="429768"/>
          </a:xfrm>
          <a:prstGeom prst="rect">
            <a:avLst/>
          </a:prstGeom>
          <a:solidFill>
            <a:srgbClr val="EDE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4088" y="4631436"/>
            <a:ext cx="1874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后台任务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61488" y="4805172"/>
            <a:ext cx="82296" cy="82296"/>
          </a:xfrm>
          <a:prstGeom prst="ellipse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44368" y="4631436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Task.Run 即发即忘，纯内存态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22008" y="4805172"/>
            <a:ext cx="82296" cy="8229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04888" y="4631436"/>
            <a:ext cx="4434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有界 Channel + BackgroundService + 并发上限 + 状态落库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6928" y="5129784"/>
            <a:ext cx="110642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4088" y="5129784"/>
            <a:ext cx="1874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机密管理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761488" y="5303520"/>
            <a:ext cx="82296" cy="82296"/>
          </a:xfrm>
          <a:prstGeom prst="ellipse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44368" y="5129784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明文口令入仓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22008" y="5303520"/>
            <a:ext cx="82296" cy="8229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04888" y="5129784"/>
            <a:ext cx="4434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user-secrets / 环境变量注入，仓库零机密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66928" y="5628132"/>
            <a:ext cx="11064240" cy="429768"/>
          </a:xfrm>
          <a:prstGeom prst="rect">
            <a:avLst/>
          </a:prstGeom>
          <a:solidFill>
            <a:srgbClr val="EDE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4088" y="5628132"/>
            <a:ext cx="1874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 交付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61488" y="5801868"/>
            <a:ext cx="82296" cy="82296"/>
          </a:xfrm>
          <a:prstGeom prst="ellipse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44368" y="5628132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CLI 的 docx 技能（不确定）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22008" y="5801868"/>
            <a:ext cx="82296" cy="8229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04888" y="5628132"/>
            <a:ext cx="4434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 Pandoc / OpenXML 双路径，离线、零额外成本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66928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本机实测：构建 0 警告 0 错误（.NET 10.0.301 / C# 14）；/api/health 数据库 connected；options 返回 11 个国标；modules 返回 97 个模块；docx 自检 engine=openxml。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STRENGTHS / 优点分析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这个项目做对了什么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84687" y="347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6A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54406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371600"/>
            <a:ext cx="68580" cy="150876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17904"/>
            <a:ext cx="329184" cy="329184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43584" y="149961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安全边界是设计出来的，不是补上去的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1901952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FileTools 不是一个「加了校验的工具类」，而是从架构上确立了「模型不直接碰磁盘」的原则。读根白名单、写扩展名白名单、纯文件名强制、路径复核四道防线层层收敛，把旧版 bypassPermissions 的越权面从「整个项目根」压缩到「单个项目输出目录」。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90488" y="1371600"/>
            <a:ext cx="54406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0488" y="1371600"/>
            <a:ext cx="68580" cy="150876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517904"/>
            <a:ext cx="329184" cy="329184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67144" y="149961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反幻觉是双层的：结构 + 内容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46520" y="1901952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保证结构合法，ModuleCatalog 保证内容真实。以文件名为模块 ID 这一决定尤其巧妙——绕开了 YAML 解析的脆弱性，让「ID 存在性」变成一次文件系统查询，可靠且零歧义。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3044952"/>
            <a:ext cx="54406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044952"/>
            <a:ext cx="68580" cy="150876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191256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191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43584" y="317296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人机边界划得清楚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3575304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做推理（选型、组装、书写），人做决策（模块确认），代码做确定性的事（docx 转换、ID 校验、参数化 SQL）。「模块确认」硬闸门与「拒绝用模型渲染 docx」是同一种判断力的两次体现。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90488" y="3044952"/>
            <a:ext cx="54406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90488" y="3044952"/>
            <a:ext cx="68580" cy="150876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3191256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191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867144" y="317296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中间产物即审核点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46520" y="3575304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阶段一的 HTML 落盘后可被人工打开、核对、修改，阶段二再读回整合。工程师被放在流程内部而非末端——这是提案类系统能否真正落地的关键。代价是阶段二要重读 HTML、多花一份输入 token，属于用成本换可控性的自觉取舍。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4718304"/>
            <a:ext cx="54406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6928" y="4718304"/>
            <a:ext cx="68580" cy="150876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" y="4864608"/>
            <a:ext cx="329184" cy="329184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864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243584" y="48463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成本意识贯穿实现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22960" y="5248656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前缀带缓存、知识库按需读取而非全量塞入、每轮打印 in/out/cacheRead/cacheWrite 四项用量、模版进程内缓存一次读取——成本不是事后优化，是写在第一版里的。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90488" y="4718304"/>
            <a:ext cx="54406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90488" y="4718304"/>
            <a:ext cx="68580" cy="150876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46520" y="4864608"/>
            <a:ext cx="329184" cy="329184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4864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867144" y="48463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工程基本功扎实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446520" y="5248656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机密零入仓、Swagger 仅开发环境、全参数化查询、有界队列产生背压、任务级超时与令牌联动、UTF-8 BOM 兼顾记事本、静态文件禁缓存——每一处都是踩过坑的人才会写的代码。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192024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114300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一次关于「AI 该做什么」的</a:t>
            </a:r>
            <a:endParaRPr lang="en-US" sz="3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克制而清醒的实践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68680" y="2880360"/>
            <a:ext cx="3383280" cy="2286000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880360"/>
            <a:ext cx="68580" cy="228600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0632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架构上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3000" y="3474720"/>
            <a:ext cx="29626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五层单体，请求即返回、重活进后台队列。没有微服务、没有前端构建链、没有 Agent 框架——用最少的抽象把事情做成，新人一天可通读全部核心路径。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80560" y="2880360"/>
            <a:ext cx="3383280" cy="2286000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2880360"/>
            <a:ext cx="68580" cy="228600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0632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方法上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3474720"/>
            <a:ext cx="29626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只做需要判断力的事：选型推理、方案书写。结构校验、ID 存在性、docx 转换这些确定性问题，一律交给确定性代码。这条边界是整个项目最值钱的设计观。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2440" y="2880360"/>
            <a:ext cx="3383280" cy="2286000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2880360"/>
            <a:ext cx="68580" cy="2286000"/>
          </a:xfrm>
          <a:prstGeom prst="rect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30632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751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66760" y="3474720"/>
            <a:ext cx="29626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当前形态更像一个「跑得通的强原型」：正确性与安全的关键洞（鉴权、截断静默）需要优先补上，之后才谈得上流式、质检与规模化。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5577840"/>
            <a:ext cx="10515600" cy="27432"/>
          </a:xfrm>
          <a:prstGeom prst="rect">
            <a:avLst/>
          </a:prstGeom>
          <a:solidFill>
            <a:srgbClr val="1D43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7607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百泉聚兴（北京）科技有限公司  ·  SmartLabOS Presales Proposal AI Agent  ·  源码解析报告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60533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分析基于提交 2b2b5e6 · 约 3,000 行自有代码 · 2026-07-16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2804</Words>
  <Application>Microsoft Office PowerPoint</Application>
  <PresentationFormat>宽屏</PresentationFormat>
  <Paragraphs>519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Presales Proposal AI Agent 系统解析</dc:title>
  <dc:subject>PptxGenJS Presentation</dc:subject>
  <dc:creator>百泉聚兴 · SmartLabOS</dc:creator>
  <cp:lastModifiedBy>Stone Bright</cp:lastModifiedBy>
  <cp:revision>2</cp:revision>
  <dcterms:created xsi:type="dcterms:W3CDTF">2026-07-16T07:50:35Z</dcterms:created>
  <dcterms:modified xsi:type="dcterms:W3CDTF">2026-07-16T08:01:58Z</dcterms:modified>
</cp:coreProperties>
</file>